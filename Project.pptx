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70" r:id="rId7"/>
    <p:sldId id="262" r:id="rId8"/>
    <p:sldId id="278" r:id="rId9"/>
    <p:sldId id="263" r:id="rId10"/>
    <p:sldId id="271" r:id="rId11"/>
    <p:sldId id="264" r:id="rId12"/>
    <p:sldId id="272" r:id="rId13"/>
    <p:sldId id="265" r:id="rId14"/>
    <p:sldId id="273" r:id="rId15"/>
    <p:sldId id="266" r:id="rId16"/>
    <p:sldId id="277" r:id="rId17"/>
    <p:sldId id="267" r:id="rId18"/>
    <p:sldId id="274" r:id="rId19"/>
    <p:sldId id="268" r:id="rId20"/>
    <p:sldId id="275" r:id="rId21"/>
    <p:sldId id="269"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061" autoAdjust="0"/>
  </p:normalViewPr>
  <p:slideViewPr>
    <p:cSldViewPr snapToGrid="0">
      <p:cViewPr varScale="1">
        <p:scale>
          <a:sx n="70" d="100"/>
          <a:sy n="70" d="100"/>
        </p:scale>
        <p:origin x="72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Branch</a:t>
            </a:r>
            <a:r>
              <a:rPr lang="en-IN" baseline="0" dirty="0"/>
              <a:t> vs Profit</a:t>
            </a:r>
            <a:endParaRPr lang="en-IN" dirty="0"/>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lotArea>
      <c:layout/>
      <c:barChart>
        <c:barDir val="bar"/>
        <c:grouping val="stacked"/>
        <c:varyColors val="0"/>
        <c:ser>
          <c:idx val="0"/>
          <c:order val="0"/>
          <c:tx>
            <c:strRef>
              <c:f>Sheet1!$B$1</c:f>
              <c:strCache>
                <c:ptCount val="1"/>
                <c:pt idx="0">
                  <c:v>Food and beverages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2"/>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257-4761-924D-E740B0F4DFEF}"/>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lumMod val="85000"/>
                      </a:schemeClr>
                    </a:solidFill>
                    <a:latin typeface="+mn-lt"/>
                    <a:ea typeface="+mn-ea"/>
                    <a:cs typeface="+mn-cs"/>
                  </a:defRPr>
                </a:pPr>
                <a:endParaRPr lang="en-US"/>
              </a:p>
            </c:txPr>
            <c:dLblPos val="inEnd"/>
            <c:showLegendKey val="0"/>
            <c:showVal val="0"/>
            <c:showCatName val="0"/>
            <c:showSerName val="0"/>
            <c:showPercent val="0"/>
            <c:showBubbleSize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Sheet1!$A$2:$A$4</c:f>
              <c:strCache>
                <c:ptCount val="3"/>
                <c:pt idx="0">
                  <c:v>A</c:v>
                </c:pt>
                <c:pt idx="1">
                  <c:v>B</c:v>
                </c:pt>
                <c:pt idx="2">
                  <c:v>C</c:v>
                </c:pt>
              </c:strCache>
            </c:strRef>
          </c:cat>
          <c:val>
            <c:numRef>
              <c:f>Sheet1!$B$2:$B$4</c:f>
              <c:numCache>
                <c:formatCode>General</c:formatCode>
                <c:ptCount val="3"/>
                <c:pt idx="2">
                  <c:v>21503.345000000001</c:v>
                </c:pt>
              </c:numCache>
            </c:numRef>
          </c:val>
          <c:extLst>
            <c:ext xmlns:c16="http://schemas.microsoft.com/office/drawing/2014/chart" uri="{C3380CC4-5D6E-409C-BE32-E72D297353CC}">
              <c16:uniqueId val="{00000000-F9A0-4AF5-8992-4083C5995C91}"/>
            </c:ext>
          </c:extLst>
        </c:ser>
        <c:ser>
          <c:idx val="1"/>
          <c:order val="1"/>
          <c:tx>
            <c:strRef>
              <c:f>Sheet1!$C$1</c:f>
              <c:strCache>
                <c:ptCount val="1"/>
                <c:pt idx="0">
                  <c:v>Home and lifestyle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Sheet1!$A$2:$A$4</c:f>
              <c:strCache>
                <c:ptCount val="3"/>
                <c:pt idx="0">
                  <c:v>A</c:v>
                </c:pt>
                <c:pt idx="1">
                  <c:v>B</c:v>
                </c:pt>
                <c:pt idx="2">
                  <c:v>C</c:v>
                </c:pt>
              </c:strCache>
            </c:strRef>
          </c:cat>
          <c:val>
            <c:numRef>
              <c:f>Sheet1!$C$2:$C$4</c:f>
              <c:numCache>
                <c:formatCode>General</c:formatCode>
                <c:ptCount val="3"/>
                <c:pt idx="0">
                  <c:v>20282.2245</c:v>
                </c:pt>
              </c:numCache>
            </c:numRef>
          </c:val>
          <c:extLst>
            <c:ext xmlns:c16="http://schemas.microsoft.com/office/drawing/2014/chart" uri="{C3380CC4-5D6E-409C-BE32-E72D297353CC}">
              <c16:uniqueId val="{00000000-9257-4761-924D-E740B0F4DFEF}"/>
            </c:ext>
          </c:extLst>
        </c:ser>
        <c:ser>
          <c:idx val="2"/>
          <c:order val="2"/>
          <c:tx>
            <c:strRef>
              <c:f>Sheet1!$D$1</c:f>
              <c:strCache>
                <c:ptCount val="1"/>
                <c:pt idx="0">
                  <c:v>Sports and travel</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Sheet1!$A$2:$A$4</c:f>
              <c:strCache>
                <c:ptCount val="3"/>
                <c:pt idx="0">
                  <c:v>A</c:v>
                </c:pt>
                <c:pt idx="1">
                  <c:v>B</c:v>
                </c:pt>
                <c:pt idx="2">
                  <c:v>C</c:v>
                </c:pt>
              </c:strCache>
            </c:strRef>
          </c:cat>
          <c:val>
            <c:numRef>
              <c:f>Sheet1!$D$2:$D$4</c:f>
              <c:numCache>
                <c:formatCode>General</c:formatCode>
                <c:ptCount val="3"/>
                <c:pt idx="1">
                  <c:v>18084.561000000002</c:v>
                </c:pt>
              </c:numCache>
            </c:numRef>
          </c:val>
          <c:extLst>
            <c:ext xmlns:c16="http://schemas.microsoft.com/office/drawing/2014/chart" uri="{C3380CC4-5D6E-409C-BE32-E72D297353CC}">
              <c16:uniqueId val="{00000001-9257-4761-924D-E740B0F4DFEF}"/>
            </c:ext>
          </c:extLst>
        </c:ser>
        <c:dLbls>
          <c:showLegendKey val="0"/>
          <c:showVal val="1"/>
          <c:showCatName val="0"/>
          <c:showSerName val="0"/>
          <c:showPercent val="0"/>
          <c:showBubbleSize val="0"/>
        </c:dLbls>
        <c:gapWidth val="115"/>
        <c:overlap val="100"/>
        <c:axId val="1759207616"/>
        <c:axId val="1759208576"/>
      </c:barChart>
      <c:catAx>
        <c:axId val="1759207616"/>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759208576"/>
        <c:crosses val="autoZero"/>
        <c:auto val="1"/>
        <c:lblAlgn val="ctr"/>
        <c:lblOffset val="100"/>
        <c:noMultiLvlLbl val="0"/>
      </c:catAx>
      <c:valAx>
        <c:axId val="1759208576"/>
        <c:scaling>
          <c:orientation val="minMax"/>
        </c:scaling>
        <c:delete val="1"/>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crossAx val="17592076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tx>
            <c:strRef>
              <c:f>Sheet1!$B$1</c:f>
              <c:strCache>
                <c:ptCount val="1"/>
                <c:pt idx="0">
                  <c:v>Count of Spendingtier</c:v>
                </c:pt>
              </c:strCache>
            </c:strRef>
          </c:tx>
          <c:dPt>
            <c:idx val="0"/>
            <c:bubble3D val="0"/>
            <c:spPr>
              <a:solidFill>
                <a:schemeClr val="accent2">
                  <a:lumMod val="75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2-15F6-4473-899F-69AD5AAA81B2}"/>
              </c:ext>
            </c:extLst>
          </c:dPt>
          <c:dPt>
            <c:idx val="1"/>
            <c:bubble3D val="0"/>
            <c:spPr>
              <a:solidFill>
                <a:schemeClr val="accent3"/>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15F6-4473-899F-69AD5AAA81B2}"/>
              </c:ext>
            </c:extLst>
          </c:dPt>
          <c:dPt>
            <c:idx val="2"/>
            <c:bubble3D val="0"/>
            <c:spPr>
              <a:solidFill>
                <a:srgbClr val="FFC000"/>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1-15F6-4473-899F-69AD5AAA81B2}"/>
              </c:ext>
            </c:extLst>
          </c:dPt>
          <c:dLbls>
            <c:dLbl>
              <c:idx val="0"/>
              <c:spPr>
                <a:solidFill>
                  <a:prstClr val="white"/>
                </a:solid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600" b="1" i="0" u="none" strike="noStrike" kern="1200" baseline="0">
                      <a:solidFill>
                        <a:schemeClr val="dk1">
                          <a:lumMod val="65000"/>
                          <a:lumOff val="35000"/>
                        </a:schemeClr>
                      </a:solidFill>
                      <a:latin typeface="+mn-lt"/>
                      <a:ea typeface="+mn-ea"/>
                      <a:cs typeface="+mn-cs"/>
                    </a:defRPr>
                  </a:pPr>
                  <a:endParaRPr lang="en-US"/>
                </a:p>
              </c:txPr>
              <c:dLblPos val="inEnd"/>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2-15F6-4473-899F-69AD5AAA81B2}"/>
                </c:ext>
              </c:extLst>
            </c:dLbl>
            <c:dLbl>
              <c:idx val="1"/>
              <c:layout>
                <c:manualLayout>
                  <c:x val="-0.17191213260726917"/>
                  <c:y val="7.6518141513327059E-2"/>
                </c:manualLayout>
              </c:layout>
              <c:spPr>
                <a:solidFill>
                  <a:prstClr val="white"/>
                </a:solid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600" b="1" i="0" u="none" strike="noStrike" kern="1200" baseline="0">
                      <a:solidFill>
                        <a:schemeClr val="dk1">
                          <a:lumMod val="65000"/>
                          <a:lumOff val="35000"/>
                        </a:schemeClr>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15F6-4473-899F-69AD5AAA81B2}"/>
                </c:ext>
              </c:extLst>
            </c:dLbl>
            <c:dLbl>
              <c:idx val="2"/>
              <c:layout>
                <c:manualLayout>
                  <c:x val="0.23975907884643879"/>
                  <c:y val="-9.6368914863841262E-2"/>
                </c:manualLayout>
              </c:layout>
              <c:spPr>
                <a:solidFill>
                  <a:prstClr val="white"/>
                </a:solid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600" b="1" i="0" u="none" strike="noStrike" kern="1200" baseline="0">
                      <a:solidFill>
                        <a:schemeClr val="dk1">
                          <a:lumMod val="65000"/>
                          <a:lumOff val="35000"/>
                        </a:schemeClr>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22139212804564853"/>
                      <c:h val="0.10569038781763765"/>
                    </c:manualLayout>
                  </c15:layout>
                </c:ext>
                <c:ext xmlns:c16="http://schemas.microsoft.com/office/drawing/2014/chart" uri="{C3380CC4-5D6E-409C-BE32-E72D297353CC}">
                  <c16:uniqueId val="{00000001-15F6-4473-899F-69AD5AAA81B2}"/>
                </c:ext>
              </c:extLst>
            </c:dLbl>
            <c:spPr>
              <a:solidFill>
                <a:schemeClr val="lt1"/>
              </a:solid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600" b="0" i="0" u="none" strike="noStrike" kern="1200" baseline="0">
                    <a:solidFill>
                      <a:schemeClr val="dk1">
                        <a:lumMod val="65000"/>
                        <a:lumOff val="35000"/>
                      </a:schemeClr>
                    </a:solidFill>
                    <a:latin typeface="+mn-lt"/>
                    <a:ea typeface="+mn-ea"/>
                    <a:cs typeface="+mn-cs"/>
                  </a:defRPr>
                </a:pPr>
                <a:endParaRPr lang="en-US"/>
              </a:p>
            </c:txPr>
            <c:dLblPos val="inEnd"/>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High</c:v>
                </c:pt>
                <c:pt idx="1">
                  <c:v>low</c:v>
                </c:pt>
                <c:pt idx="2">
                  <c:v>Medium</c:v>
                </c:pt>
              </c:strCache>
            </c:strRef>
          </c:cat>
          <c:val>
            <c:numRef>
              <c:f>Sheet1!$B$2:$B$4</c:f>
              <c:numCache>
                <c:formatCode>General</c:formatCode>
                <c:ptCount val="3"/>
                <c:pt idx="0">
                  <c:v>1</c:v>
                </c:pt>
                <c:pt idx="1">
                  <c:v>3</c:v>
                </c:pt>
                <c:pt idx="2">
                  <c:v>11</c:v>
                </c:pt>
              </c:numCache>
            </c:numRef>
          </c:val>
          <c:extLst>
            <c:ext xmlns:c16="http://schemas.microsoft.com/office/drawing/2014/chart" uri="{C3380CC4-5D6E-409C-BE32-E72D297353CC}">
              <c16:uniqueId val="{00000000-15F6-4473-899F-69AD5AAA81B2}"/>
            </c:ext>
          </c:extLst>
        </c:ser>
        <c:dLbls>
          <c:dLblPos val="inEnd"/>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1"/>
    </a:solidFill>
    <a:ln>
      <a:noFill/>
    </a:ln>
    <a:effectLst>
      <a:outerShdw blurRad="50800" dist="38100" dir="2700000" algn="tl" rotWithShape="0">
        <a:prstClr val="black">
          <a:alpha val="40000"/>
        </a:prstClr>
      </a:outerShd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Cash</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Sheet1!$A$2:$A$4</c:f>
              <c:strCache>
                <c:ptCount val="3"/>
                <c:pt idx="0">
                  <c:v>Mandalay</c:v>
                </c:pt>
                <c:pt idx="1">
                  <c:v>Naypyitaw</c:v>
                </c:pt>
                <c:pt idx="2">
                  <c:v>Yangon</c:v>
                </c:pt>
              </c:strCache>
            </c:strRef>
          </c:cat>
          <c:val>
            <c:numRef>
              <c:f>Sheet1!$B$2:$B$4</c:f>
              <c:numCache>
                <c:formatCode>General</c:formatCode>
                <c:ptCount val="3"/>
                <c:pt idx="1">
                  <c:v>124</c:v>
                </c:pt>
              </c:numCache>
            </c:numRef>
          </c:val>
          <c:extLst>
            <c:ext xmlns:c16="http://schemas.microsoft.com/office/drawing/2014/chart" uri="{C3380CC4-5D6E-409C-BE32-E72D297353CC}">
              <c16:uniqueId val="{00000000-C37E-4263-8987-B4CF03906EF5}"/>
            </c:ext>
          </c:extLst>
        </c:ser>
        <c:ser>
          <c:idx val="1"/>
          <c:order val="1"/>
          <c:tx>
            <c:strRef>
              <c:f>Sheet1!$C$1</c:f>
              <c:strCache>
                <c:ptCount val="1"/>
                <c:pt idx="0">
                  <c:v>Ewallet</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Sheet1!$A$2:$A$4</c:f>
              <c:strCache>
                <c:ptCount val="3"/>
                <c:pt idx="0">
                  <c:v>Mandalay</c:v>
                </c:pt>
                <c:pt idx="1">
                  <c:v>Naypyitaw</c:v>
                </c:pt>
                <c:pt idx="2">
                  <c:v>Yangon</c:v>
                </c:pt>
              </c:strCache>
            </c:strRef>
          </c:cat>
          <c:val>
            <c:numRef>
              <c:f>Sheet1!$C$2:$C$4</c:f>
              <c:numCache>
                <c:formatCode>General</c:formatCode>
                <c:ptCount val="3"/>
                <c:pt idx="0">
                  <c:v>113</c:v>
                </c:pt>
                <c:pt idx="2">
                  <c:v>126</c:v>
                </c:pt>
              </c:numCache>
            </c:numRef>
          </c:val>
          <c:extLst>
            <c:ext xmlns:c16="http://schemas.microsoft.com/office/drawing/2014/chart" uri="{C3380CC4-5D6E-409C-BE32-E72D297353CC}">
              <c16:uniqueId val="{00000001-C37E-4263-8987-B4CF03906EF5}"/>
            </c:ext>
          </c:extLst>
        </c:ser>
        <c:dLbls>
          <c:dLblPos val="inEnd"/>
          <c:showLegendKey val="0"/>
          <c:showVal val="1"/>
          <c:showCatName val="0"/>
          <c:showSerName val="0"/>
          <c:showPercent val="0"/>
          <c:showBubbleSize val="0"/>
        </c:dLbls>
        <c:gapWidth val="150"/>
        <c:overlap val="100"/>
        <c:axId val="901547567"/>
        <c:axId val="901546127"/>
      </c:barChart>
      <c:catAx>
        <c:axId val="901547567"/>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901546127"/>
        <c:crosses val="autoZero"/>
        <c:auto val="1"/>
        <c:lblAlgn val="ctr"/>
        <c:lblOffset val="100"/>
        <c:noMultiLvlLbl val="0"/>
      </c:catAx>
      <c:valAx>
        <c:axId val="901546127"/>
        <c:scaling>
          <c:orientation val="minMax"/>
        </c:scaling>
        <c:delete val="1"/>
        <c:axPos val="b"/>
        <c:numFmt formatCode="General" sourceLinked="1"/>
        <c:majorTickMark val="none"/>
        <c:minorTickMark val="none"/>
        <c:tickLblPos val="nextTo"/>
        <c:crossAx val="9015475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Monthly</a:t>
            </a:r>
            <a:r>
              <a:rPr lang="en-IN" baseline="0" dirty="0"/>
              <a:t> sales vs Gender</a:t>
            </a:r>
            <a:endParaRPr lang="en-IN" dirty="0"/>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lotArea>
      <c:layout/>
      <c:barChart>
        <c:barDir val="bar"/>
        <c:grouping val="clustered"/>
        <c:varyColors val="0"/>
        <c:ser>
          <c:idx val="0"/>
          <c:order val="0"/>
          <c:tx>
            <c:strRef>
              <c:f>Sheet1!$B$1</c:f>
              <c:strCache>
                <c:ptCount val="1"/>
                <c:pt idx="0">
                  <c:v>Female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Sheet1!$A$2:$A$4</c:f>
              <c:numCache>
                <c:formatCode>General</c:formatCode>
                <c:ptCount val="3"/>
                <c:pt idx="0">
                  <c:v>1</c:v>
                </c:pt>
                <c:pt idx="1">
                  <c:v>2</c:v>
                </c:pt>
                <c:pt idx="2">
                  <c:v>3</c:v>
                </c:pt>
              </c:numCache>
            </c:numRef>
          </c:cat>
          <c:val>
            <c:numRef>
              <c:f>Sheet1!$B$2:$B$4</c:f>
              <c:numCache>
                <c:formatCode>General</c:formatCode>
                <c:ptCount val="3"/>
                <c:pt idx="0">
                  <c:v>59138.982000000011</c:v>
                </c:pt>
                <c:pt idx="1">
                  <c:v>56335.555499999988</c:v>
                </c:pt>
                <c:pt idx="2">
                  <c:v>52408.387500000004</c:v>
                </c:pt>
              </c:numCache>
            </c:numRef>
          </c:val>
          <c:extLst>
            <c:ext xmlns:c16="http://schemas.microsoft.com/office/drawing/2014/chart" uri="{C3380CC4-5D6E-409C-BE32-E72D297353CC}">
              <c16:uniqueId val="{00000000-702A-45C1-91C4-5BB87A5CF635}"/>
            </c:ext>
          </c:extLst>
        </c:ser>
        <c:ser>
          <c:idx val="1"/>
          <c:order val="1"/>
          <c:tx>
            <c:strRef>
              <c:f>Sheet1!$C$1</c:f>
              <c:strCache>
                <c:ptCount val="1"/>
                <c:pt idx="0">
                  <c:v>Male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Sheet1!$A$2:$A$4</c:f>
              <c:numCache>
                <c:formatCode>General</c:formatCode>
                <c:ptCount val="3"/>
                <c:pt idx="0">
                  <c:v>1</c:v>
                </c:pt>
                <c:pt idx="1">
                  <c:v>2</c:v>
                </c:pt>
                <c:pt idx="2">
                  <c:v>3</c:v>
                </c:pt>
              </c:numCache>
            </c:numRef>
          </c:cat>
          <c:val>
            <c:numRef>
              <c:f>Sheet1!$C$2:$C$4</c:f>
              <c:numCache>
                <c:formatCode>General</c:formatCode>
                <c:ptCount val="3"/>
                <c:pt idx="0">
                  <c:v>57152.885999999991</c:v>
                </c:pt>
                <c:pt idx="1">
                  <c:v>40883.818499999987</c:v>
                </c:pt>
                <c:pt idx="2">
                  <c:v>57047.119499999972</c:v>
                </c:pt>
              </c:numCache>
            </c:numRef>
          </c:val>
          <c:extLst>
            <c:ext xmlns:c16="http://schemas.microsoft.com/office/drawing/2014/chart" uri="{C3380CC4-5D6E-409C-BE32-E72D297353CC}">
              <c16:uniqueId val="{00000001-702A-45C1-91C4-5BB87A5CF635}"/>
            </c:ext>
          </c:extLst>
        </c:ser>
        <c:dLbls>
          <c:dLblPos val="inEnd"/>
          <c:showLegendKey val="0"/>
          <c:showVal val="1"/>
          <c:showCatName val="0"/>
          <c:showSerName val="0"/>
          <c:showPercent val="0"/>
          <c:showBubbleSize val="0"/>
        </c:dLbls>
        <c:gapWidth val="100"/>
        <c:axId val="914102047"/>
        <c:axId val="914077087"/>
      </c:barChart>
      <c:catAx>
        <c:axId val="914102047"/>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914077087"/>
        <c:crosses val="autoZero"/>
        <c:auto val="1"/>
        <c:lblAlgn val="ctr"/>
        <c:lblOffset val="100"/>
        <c:noMultiLvlLbl val="0"/>
      </c:catAx>
      <c:valAx>
        <c:axId val="914077087"/>
        <c:scaling>
          <c:orientation val="minMax"/>
        </c:scaling>
        <c:delete val="1"/>
        <c:axPos val="b"/>
        <c:numFmt formatCode="General" sourceLinked="1"/>
        <c:majorTickMark val="none"/>
        <c:minorTickMark val="none"/>
        <c:tickLblPos val="nextTo"/>
        <c:crossAx val="9141020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Sales</a:t>
            </a:r>
            <a:r>
              <a:rPr lang="en-IN" baseline="0" dirty="0"/>
              <a:t> count vs Product line</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Member</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Sheet1!$A$2:$A$4</c:f>
              <c:strCache>
                <c:ptCount val="3"/>
                <c:pt idx="0">
                  <c:v>Electronic accessories</c:v>
                </c:pt>
                <c:pt idx="1">
                  <c:v>Fashion accessories</c:v>
                </c:pt>
                <c:pt idx="2">
                  <c:v>Food and beverages</c:v>
                </c:pt>
              </c:strCache>
            </c:strRef>
          </c:cat>
          <c:val>
            <c:numRef>
              <c:f>Sheet1!$B$2:$B$4</c:f>
              <c:numCache>
                <c:formatCode>General</c:formatCode>
                <c:ptCount val="3"/>
                <c:pt idx="2">
                  <c:v>94</c:v>
                </c:pt>
              </c:numCache>
            </c:numRef>
          </c:val>
          <c:extLst>
            <c:ext xmlns:c16="http://schemas.microsoft.com/office/drawing/2014/chart" uri="{C3380CC4-5D6E-409C-BE32-E72D297353CC}">
              <c16:uniqueId val="{00000000-00F0-4F43-B344-D974A52C29C9}"/>
            </c:ext>
          </c:extLst>
        </c:ser>
        <c:ser>
          <c:idx val="1"/>
          <c:order val="1"/>
          <c:tx>
            <c:strRef>
              <c:f>Sheet1!$C$1</c:f>
              <c:strCache>
                <c:ptCount val="1"/>
                <c:pt idx="0">
                  <c:v>Normal</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Sheet1!$A$2:$A$4</c:f>
              <c:strCache>
                <c:ptCount val="3"/>
                <c:pt idx="0">
                  <c:v>Electronic accessories</c:v>
                </c:pt>
                <c:pt idx="1">
                  <c:v>Fashion accessories</c:v>
                </c:pt>
                <c:pt idx="2">
                  <c:v>Food and beverages</c:v>
                </c:pt>
              </c:strCache>
            </c:strRef>
          </c:cat>
          <c:val>
            <c:numRef>
              <c:f>Sheet1!$C$2:$C$4</c:f>
              <c:numCache>
                <c:formatCode>General</c:formatCode>
                <c:ptCount val="3"/>
                <c:pt idx="0">
                  <c:v>92</c:v>
                </c:pt>
                <c:pt idx="1">
                  <c:v>92</c:v>
                </c:pt>
              </c:numCache>
            </c:numRef>
          </c:val>
          <c:extLst>
            <c:ext xmlns:c16="http://schemas.microsoft.com/office/drawing/2014/chart" uri="{C3380CC4-5D6E-409C-BE32-E72D297353CC}">
              <c16:uniqueId val="{00000001-00F0-4F43-B344-D974A52C29C9}"/>
            </c:ext>
          </c:extLst>
        </c:ser>
        <c:dLbls>
          <c:showLegendKey val="0"/>
          <c:showVal val="1"/>
          <c:showCatName val="0"/>
          <c:showSerName val="0"/>
          <c:showPercent val="0"/>
          <c:showBubbleSize val="0"/>
        </c:dLbls>
        <c:gapWidth val="100"/>
        <c:overlap val="100"/>
        <c:axId val="2089962240"/>
        <c:axId val="2089937280"/>
      </c:barChart>
      <c:catAx>
        <c:axId val="208996224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89937280"/>
        <c:crosses val="autoZero"/>
        <c:auto val="1"/>
        <c:lblAlgn val="ctr"/>
        <c:lblOffset val="100"/>
        <c:noMultiLvlLbl val="0"/>
      </c:catAx>
      <c:valAx>
        <c:axId val="2089937280"/>
        <c:scaling>
          <c:orientation val="minMax"/>
        </c:scaling>
        <c:delete val="1"/>
        <c:axPos val="l"/>
        <c:numFmt formatCode="General" sourceLinked="1"/>
        <c:majorTickMark val="none"/>
        <c:minorTickMark val="none"/>
        <c:tickLblPos val="nextTo"/>
        <c:crossAx val="20899622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Total</a:t>
            </a:r>
            <a:r>
              <a:rPr lang="en-IN" baseline="0" dirty="0"/>
              <a:t> sales vs Customer Id</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total_sales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Sheet1!$A$2:$A$6</c:f>
              <c:numCache>
                <c:formatCode>General</c:formatCode>
                <c:ptCount val="5"/>
                <c:pt idx="0">
                  <c:v>8</c:v>
                </c:pt>
                <c:pt idx="1">
                  <c:v>3</c:v>
                </c:pt>
                <c:pt idx="2">
                  <c:v>2</c:v>
                </c:pt>
                <c:pt idx="3">
                  <c:v>15</c:v>
                </c:pt>
                <c:pt idx="4">
                  <c:v>1</c:v>
                </c:pt>
              </c:numCache>
            </c:numRef>
          </c:cat>
          <c:val>
            <c:numRef>
              <c:f>Sheet1!$B$2:$B$6</c:f>
              <c:numCache>
                <c:formatCode>General</c:formatCode>
                <c:ptCount val="5"/>
                <c:pt idx="0">
                  <c:v>26634.341999999997</c:v>
                </c:pt>
                <c:pt idx="1">
                  <c:v>23402.263499999997</c:v>
                </c:pt>
                <c:pt idx="2">
                  <c:v>23392.277999999995</c:v>
                </c:pt>
                <c:pt idx="3">
                  <c:v>22674.455999999991</c:v>
                </c:pt>
                <c:pt idx="4">
                  <c:v>22634.545499999989</c:v>
                </c:pt>
              </c:numCache>
            </c:numRef>
          </c:val>
          <c:extLst>
            <c:ext xmlns:c16="http://schemas.microsoft.com/office/drawing/2014/chart" uri="{C3380CC4-5D6E-409C-BE32-E72D297353CC}">
              <c16:uniqueId val="{00000000-0EDA-47FE-A46C-EEE59C1BA90D}"/>
            </c:ext>
          </c:extLst>
        </c:ser>
        <c:ser>
          <c:idx val="1"/>
          <c:order val="1"/>
          <c:tx>
            <c:strRef>
              <c:f>Sheet1!$C$1</c:f>
              <c:strCache>
                <c:ptCount val="1"/>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Sheet1!$A$2:$A$6</c:f>
              <c:numCache>
                <c:formatCode>General</c:formatCode>
                <c:ptCount val="5"/>
                <c:pt idx="0">
                  <c:v>8</c:v>
                </c:pt>
                <c:pt idx="1">
                  <c:v>3</c:v>
                </c:pt>
                <c:pt idx="2">
                  <c:v>2</c:v>
                </c:pt>
                <c:pt idx="3">
                  <c:v>15</c:v>
                </c:pt>
                <c:pt idx="4">
                  <c:v>1</c:v>
                </c:pt>
              </c:numCache>
            </c:numRef>
          </c:cat>
          <c:val>
            <c:numRef>
              <c:f>Sheet1!$C$2:$C$6</c:f>
              <c:numCache>
                <c:formatCode>General</c:formatCode>
                <c:ptCount val="5"/>
              </c:numCache>
            </c:numRef>
          </c:val>
          <c:extLst>
            <c:ext xmlns:c16="http://schemas.microsoft.com/office/drawing/2014/chart" uri="{C3380CC4-5D6E-409C-BE32-E72D297353CC}">
              <c16:uniqueId val="{00000001-0EDA-47FE-A46C-EEE59C1BA90D}"/>
            </c:ext>
          </c:extLst>
        </c:ser>
        <c:ser>
          <c:idx val="2"/>
          <c:order val="2"/>
          <c:tx>
            <c:strRef>
              <c:f>Sheet1!$D$1</c:f>
              <c:strCache>
                <c:ptCount val="1"/>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Sheet1!$A$2:$A$6</c:f>
              <c:numCache>
                <c:formatCode>General</c:formatCode>
                <c:ptCount val="5"/>
                <c:pt idx="0">
                  <c:v>8</c:v>
                </c:pt>
                <c:pt idx="1">
                  <c:v>3</c:v>
                </c:pt>
                <c:pt idx="2">
                  <c:v>2</c:v>
                </c:pt>
                <c:pt idx="3">
                  <c:v>15</c:v>
                </c:pt>
                <c:pt idx="4">
                  <c:v>1</c:v>
                </c:pt>
              </c:numCache>
            </c:numRef>
          </c:cat>
          <c:val>
            <c:numRef>
              <c:f>Sheet1!$D$2:$D$6</c:f>
              <c:numCache>
                <c:formatCode>General</c:formatCode>
                <c:ptCount val="5"/>
              </c:numCache>
            </c:numRef>
          </c:val>
          <c:extLst>
            <c:ext xmlns:c16="http://schemas.microsoft.com/office/drawing/2014/chart" uri="{C3380CC4-5D6E-409C-BE32-E72D297353CC}">
              <c16:uniqueId val="{00000002-0EDA-47FE-A46C-EEE59C1BA90D}"/>
            </c:ext>
          </c:extLst>
        </c:ser>
        <c:dLbls>
          <c:showLegendKey val="0"/>
          <c:showVal val="1"/>
          <c:showCatName val="0"/>
          <c:showSerName val="0"/>
          <c:showPercent val="0"/>
          <c:showBubbleSize val="0"/>
        </c:dLbls>
        <c:gapWidth val="100"/>
        <c:overlap val="100"/>
        <c:axId val="2089918560"/>
        <c:axId val="2089910880"/>
      </c:barChart>
      <c:catAx>
        <c:axId val="2089918560"/>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89910880"/>
        <c:crosses val="autoZero"/>
        <c:auto val="1"/>
        <c:lblAlgn val="ctr"/>
        <c:lblOffset val="100"/>
        <c:noMultiLvlLbl val="0"/>
      </c:catAx>
      <c:valAx>
        <c:axId val="2089910880"/>
        <c:scaling>
          <c:orientation val="minMax"/>
        </c:scaling>
        <c:delete val="1"/>
        <c:axPos val="b"/>
        <c:numFmt formatCode="General" sourceLinked="1"/>
        <c:majorTickMark val="none"/>
        <c:minorTickMark val="none"/>
        <c:tickLblPos val="nextTo"/>
        <c:crossAx val="2089918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Day</a:t>
            </a:r>
            <a:r>
              <a:rPr lang="en-IN" baseline="0" dirty="0"/>
              <a:t> vs Total sales</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total_sales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Sheet1!$A$2:$A$8</c:f>
              <c:strCache>
                <c:ptCount val="7"/>
                <c:pt idx="0">
                  <c:v>Saturday</c:v>
                </c:pt>
                <c:pt idx="1">
                  <c:v>Tuesday</c:v>
                </c:pt>
                <c:pt idx="2">
                  <c:v>Thursday</c:v>
                </c:pt>
                <c:pt idx="3">
                  <c:v>Sunday</c:v>
                </c:pt>
                <c:pt idx="4">
                  <c:v>Friday</c:v>
                </c:pt>
                <c:pt idx="5">
                  <c:v>Wednesday</c:v>
                </c:pt>
                <c:pt idx="6">
                  <c:v>Monday</c:v>
                </c:pt>
              </c:strCache>
            </c:strRef>
          </c:cat>
          <c:val>
            <c:numRef>
              <c:f>Sheet1!$B$2:$B$8</c:f>
              <c:numCache>
                <c:formatCode>General</c:formatCode>
                <c:ptCount val="7"/>
                <c:pt idx="0">
                  <c:v>56120.809499999988</c:v>
                </c:pt>
                <c:pt idx="1">
                  <c:v>51482.245500000012</c:v>
                </c:pt>
                <c:pt idx="2">
                  <c:v>45349.248000000014</c:v>
                </c:pt>
                <c:pt idx="3">
                  <c:v>44457.892499999994</c:v>
                </c:pt>
                <c:pt idx="4">
                  <c:v>43926.34050000002</c:v>
                </c:pt>
                <c:pt idx="5">
                  <c:v>43731.135000000002</c:v>
                </c:pt>
                <c:pt idx="6">
                  <c:v>37899.077999999987</c:v>
                </c:pt>
              </c:numCache>
            </c:numRef>
          </c:val>
          <c:extLst>
            <c:ext xmlns:c16="http://schemas.microsoft.com/office/drawing/2014/chart" uri="{C3380CC4-5D6E-409C-BE32-E72D297353CC}">
              <c16:uniqueId val="{00000000-0C57-434A-AB37-CCB0A7799500}"/>
            </c:ext>
          </c:extLst>
        </c:ser>
        <c:dLbls>
          <c:dLblPos val="inEnd"/>
          <c:showLegendKey val="0"/>
          <c:showVal val="1"/>
          <c:showCatName val="0"/>
          <c:showSerName val="0"/>
          <c:showPercent val="0"/>
          <c:showBubbleSize val="0"/>
        </c:dLbls>
        <c:gapWidth val="100"/>
        <c:axId val="2089954560"/>
        <c:axId val="2089956960"/>
      </c:barChart>
      <c:catAx>
        <c:axId val="2089954560"/>
        <c:scaling>
          <c:orientation val="minMax"/>
        </c:scaling>
        <c:delete val="0"/>
        <c:axPos val="l"/>
        <c:numFmt formatCode="General" sourceLinked="1"/>
        <c:majorTickMark val="out"/>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89956960"/>
        <c:crosses val="autoZero"/>
        <c:auto val="1"/>
        <c:lblAlgn val="ctr"/>
        <c:lblOffset val="100"/>
        <c:noMultiLvlLbl val="0"/>
      </c:catAx>
      <c:valAx>
        <c:axId val="2089956960"/>
        <c:scaling>
          <c:orientation val="minMax"/>
        </c:scaling>
        <c:delete val="1"/>
        <c:axPos val="b"/>
        <c:numFmt formatCode="General" sourceLinked="1"/>
        <c:majorTickMark val="out"/>
        <c:minorTickMark val="none"/>
        <c:tickLblPos val="nextTo"/>
        <c:crossAx val="2089954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565E5-88A5-19B2-84AA-EF78F7D747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0B594B-E30A-AED4-85E7-A6AF0D4F79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B0A7568-C409-98B4-DE10-13C196366D14}"/>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5" name="Footer Placeholder 4">
            <a:extLst>
              <a:ext uri="{FF2B5EF4-FFF2-40B4-BE49-F238E27FC236}">
                <a16:creationId xmlns:a16="http://schemas.microsoft.com/office/drawing/2014/main" id="{AC9F4392-2550-6A1B-EB5A-2C9B99D4E8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5F5D30-B800-0CDC-2773-48263F4FB86E}"/>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188102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5639D-5385-2BC6-BA08-E7B6DDEAC3E1}"/>
              </a:ext>
            </a:extLst>
          </p:cNvPr>
          <p:cNvSpPr>
            <a:spLocks noGrp="1"/>
          </p:cNvSpPr>
          <p:nvPr>
            <p:ph type="title"/>
          </p:nvPr>
        </p:nvSpPr>
        <p:spPr>
          <a:xfrm>
            <a:off x="346880" y="320675"/>
            <a:ext cx="10515600" cy="1325563"/>
          </a:xfrm>
        </p:spPr>
        <p:txBody>
          <a:bodyPr>
            <a:normAutofit/>
          </a:bodyPr>
          <a:lstStyle>
            <a:lvl1pPr>
              <a:defRPr sz="3200" b="1">
                <a:solidFill>
                  <a:srgbClr val="0070C0"/>
                </a:solidFill>
                <a:latin typeface="Candara" panose="020E0502030303020204" pitchFamily="34"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11795442-B53E-1CB6-14B4-01131D525885}"/>
              </a:ext>
            </a:extLst>
          </p:cNvPr>
          <p:cNvSpPr>
            <a:spLocks noGrp="1"/>
          </p:cNvSpPr>
          <p:nvPr>
            <p:ph idx="1"/>
          </p:nvPr>
        </p:nvSpPr>
        <p:spPr>
          <a:xfrm>
            <a:off x="346880" y="1825625"/>
            <a:ext cx="10515600" cy="4351338"/>
          </a:xfrm>
        </p:spPr>
        <p:txBody>
          <a:bodyPr/>
          <a:lstStyle>
            <a:lvl1pPr>
              <a:defRPr>
                <a:solidFill>
                  <a:schemeClr val="accent1">
                    <a:lumMod val="50000"/>
                  </a:schemeClr>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4F604163-4593-42F1-0BE5-61E8BE48C87E}"/>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5" name="Footer Placeholder 4">
            <a:extLst>
              <a:ext uri="{FF2B5EF4-FFF2-40B4-BE49-F238E27FC236}">
                <a16:creationId xmlns:a16="http://schemas.microsoft.com/office/drawing/2014/main" id="{C1B6B5E4-E2ED-EE72-1E6C-A9EDCD87C3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C6A767-A823-300D-763C-24D929C2A5C9}"/>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540232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38128-8D4D-0FB6-80FC-E3569607BC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9BF9B8C-4630-D07C-DE34-2E73F37FAD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2BF3EE-EC9D-45D9-2293-2F21B50ADFB1}"/>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5" name="Footer Placeholder 4">
            <a:extLst>
              <a:ext uri="{FF2B5EF4-FFF2-40B4-BE49-F238E27FC236}">
                <a16:creationId xmlns:a16="http://schemas.microsoft.com/office/drawing/2014/main" id="{19201305-594C-2F0F-C9E0-B0D26B2194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5EBB08-E233-5D85-CA7E-FE74FE08DBFF}"/>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2428916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3A6C8-BDA8-2EF6-82AF-7C531F14CF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813F60-E92E-088A-D44F-6BD4A491D4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DAB2036-791A-2EB2-3271-C78875E3DB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E1628A-9BD0-C437-DD14-E83C441954E7}"/>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6" name="Footer Placeholder 5">
            <a:extLst>
              <a:ext uri="{FF2B5EF4-FFF2-40B4-BE49-F238E27FC236}">
                <a16:creationId xmlns:a16="http://schemas.microsoft.com/office/drawing/2014/main" id="{6775D51E-08F7-E4AA-12C4-7654C2709D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5778D9-E8A2-D413-76E2-BE622DFB4A30}"/>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3331676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3EC4E-CF01-F7D2-939B-586F0B8211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858D6E-0514-83ED-6A54-DB83CF3A5C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5D830E-525A-82B7-E3D0-D0CF67A820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8FE2DE9-7C67-BC0F-E2F0-FFA54E63AB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2EE170-BC5C-BF69-33B5-F28B8F6AA1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C53DA6-E01F-F99A-34FB-8709304E1C40}"/>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8" name="Footer Placeholder 7">
            <a:extLst>
              <a:ext uri="{FF2B5EF4-FFF2-40B4-BE49-F238E27FC236}">
                <a16:creationId xmlns:a16="http://schemas.microsoft.com/office/drawing/2014/main" id="{AFE8C6DA-1FA5-2DBE-F257-683F032C58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F985AB4-6C57-CE2A-EF5F-EA508127A988}"/>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4161649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2DCBC-CC2E-9B3C-BA02-4E1EF8A9CF9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7EFE5A1-E990-A8BC-3465-E00CEB1C045D}"/>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4" name="Footer Placeholder 3">
            <a:extLst>
              <a:ext uri="{FF2B5EF4-FFF2-40B4-BE49-F238E27FC236}">
                <a16:creationId xmlns:a16="http://schemas.microsoft.com/office/drawing/2014/main" id="{64DB1AA5-3346-13D8-5EED-AC6A0A556B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F2FE9A-296A-95BC-9A0D-06F51DFBFC1A}"/>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597983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272951-633F-DD30-C1BF-0BED29FBD185}"/>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3" name="Footer Placeholder 2">
            <a:extLst>
              <a:ext uri="{FF2B5EF4-FFF2-40B4-BE49-F238E27FC236}">
                <a16:creationId xmlns:a16="http://schemas.microsoft.com/office/drawing/2014/main" id="{A27900D5-D4E2-9A58-4329-88F83EA7C90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5117CD2-C88F-BFD8-0D77-A130A0DDB65A}"/>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3054063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CCED4-D705-9D16-BAEF-2EE10E80AC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65B3211-AA11-3867-008A-2669DF09C6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F9CD89-4E2A-E159-39E6-C28F8779A5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C7BA20-0D08-416F-3BED-5C33D805E4A6}"/>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6" name="Footer Placeholder 5">
            <a:extLst>
              <a:ext uri="{FF2B5EF4-FFF2-40B4-BE49-F238E27FC236}">
                <a16:creationId xmlns:a16="http://schemas.microsoft.com/office/drawing/2014/main" id="{F1CFF5AF-BECB-7FCE-E667-1281DFAD38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804FC8-56D7-6237-DE63-132F305A05FA}"/>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1330591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96F41-BA95-E128-B1E4-B99AD251D0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18B442-03D4-D95F-93DA-199699E05F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D760D3-A562-54DA-9B1B-683A1E876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F66C34-A824-5A26-1CE7-EF525D90FA30}"/>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6" name="Footer Placeholder 5">
            <a:extLst>
              <a:ext uri="{FF2B5EF4-FFF2-40B4-BE49-F238E27FC236}">
                <a16:creationId xmlns:a16="http://schemas.microsoft.com/office/drawing/2014/main" id="{7F1955E0-6DF1-3D63-FF2B-C76216D58B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F2F2FA-6227-F36B-F952-59F076550F21}"/>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4145564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30ECE-BA13-359D-15D2-3D6F877255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F6D21D-2535-D5D0-9024-D2C1213AF7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25BB6B-7826-43FB-EBFD-F469067C8335}"/>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5" name="Footer Placeholder 4">
            <a:extLst>
              <a:ext uri="{FF2B5EF4-FFF2-40B4-BE49-F238E27FC236}">
                <a16:creationId xmlns:a16="http://schemas.microsoft.com/office/drawing/2014/main" id="{4EDCC1F9-3FA8-E702-EDFC-271797D7BD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679E2-8112-4823-7021-5F84D80ABA03}"/>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4064117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22D617-E88B-8D5A-EFE0-50162FF627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2263ED-EFF2-760A-F6F4-05646964EA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16D2B4-7BEC-E8AE-05E0-319495A38C77}"/>
              </a:ext>
            </a:extLst>
          </p:cNvPr>
          <p:cNvSpPr>
            <a:spLocks noGrp="1"/>
          </p:cNvSpPr>
          <p:nvPr>
            <p:ph type="dt" sz="half" idx="10"/>
          </p:nvPr>
        </p:nvSpPr>
        <p:spPr/>
        <p:txBody>
          <a:bodyPr/>
          <a:lstStyle/>
          <a:p>
            <a:fld id="{828E6214-FE5E-475A-9E31-E6C4DF4CAC4D}" type="datetimeFigureOut">
              <a:rPr lang="en-IN" smtClean="0"/>
              <a:t>14-04-2025</a:t>
            </a:fld>
            <a:endParaRPr lang="en-IN"/>
          </a:p>
        </p:txBody>
      </p:sp>
      <p:sp>
        <p:nvSpPr>
          <p:cNvPr id="5" name="Footer Placeholder 4">
            <a:extLst>
              <a:ext uri="{FF2B5EF4-FFF2-40B4-BE49-F238E27FC236}">
                <a16:creationId xmlns:a16="http://schemas.microsoft.com/office/drawing/2014/main" id="{3E49ACB0-CD6A-1294-F834-7495CC0EB9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9F8F77-56CB-4ECC-0095-184E9A4ADA13}"/>
              </a:ext>
            </a:extLst>
          </p:cNvPr>
          <p:cNvSpPr>
            <a:spLocks noGrp="1"/>
          </p:cNvSpPr>
          <p:nvPr>
            <p:ph type="sldNum" sz="quarter" idx="12"/>
          </p:nvPr>
        </p:nvSpPr>
        <p:spPr/>
        <p:txBody>
          <a:bodyPr/>
          <a:lstStyle/>
          <a:p>
            <a:fld id="{A2F509C1-CA9F-4940-A109-9F90AED214CF}" type="slidenum">
              <a:rPr lang="en-IN" smtClean="0"/>
              <a:t>‹#›</a:t>
            </a:fld>
            <a:endParaRPr lang="en-IN"/>
          </a:p>
        </p:txBody>
      </p:sp>
    </p:spTree>
    <p:extLst>
      <p:ext uri="{BB962C8B-B14F-4D97-AF65-F5344CB8AC3E}">
        <p14:creationId xmlns:p14="http://schemas.microsoft.com/office/powerpoint/2010/main" val="127810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15000">
              <a:srgbClr val="FFFF00"/>
            </a:gs>
            <a:gs pos="33000">
              <a:schemeClr val="accent5">
                <a:lumMod val="45000"/>
                <a:lumOff val="55000"/>
              </a:schemeClr>
            </a:gs>
            <a:gs pos="66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C9E43E-A150-F58E-EF93-B57A1B1467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C778B8-5D4E-8786-AE35-88216C6413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9F25C3-1915-5B05-8861-22B31C8155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8E6214-FE5E-475A-9E31-E6C4DF4CAC4D}" type="datetimeFigureOut">
              <a:rPr lang="en-IN" smtClean="0"/>
              <a:t>14-04-2025</a:t>
            </a:fld>
            <a:endParaRPr lang="en-IN"/>
          </a:p>
        </p:txBody>
      </p:sp>
      <p:sp>
        <p:nvSpPr>
          <p:cNvPr id="5" name="Footer Placeholder 4">
            <a:extLst>
              <a:ext uri="{FF2B5EF4-FFF2-40B4-BE49-F238E27FC236}">
                <a16:creationId xmlns:a16="http://schemas.microsoft.com/office/drawing/2014/main" id="{CED210F2-79C4-B411-5CEF-69DD8B7260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7753953-832C-9674-2EBA-A3F9EF6525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F509C1-CA9F-4940-A109-9F90AED214CF}" type="slidenum">
              <a:rPr lang="en-IN" smtClean="0"/>
              <a:t>‹#›</a:t>
            </a:fld>
            <a:endParaRPr lang="en-IN"/>
          </a:p>
        </p:txBody>
      </p:sp>
    </p:spTree>
    <p:extLst>
      <p:ext uri="{BB962C8B-B14F-4D97-AF65-F5344CB8AC3E}">
        <p14:creationId xmlns:p14="http://schemas.microsoft.com/office/powerpoint/2010/main" val="54615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3061F98-3351-B09D-A605-59B2B3591D59}"/>
              </a:ext>
            </a:extLst>
          </p:cNvPr>
          <p:cNvSpPr txBox="1"/>
          <p:nvPr/>
        </p:nvSpPr>
        <p:spPr>
          <a:xfrm>
            <a:off x="528484" y="707925"/>
            <a:ext cx="11135031" cy="2585323"/>
          </a:xfrm>
          <a:prstGeom prst="rect">
            <a:avLst/>
          </a:prstGeom>
          <a:noFill/>
          <a:ln>
            <a:noFill/>
          </a:ln>
          <a:effectLst>
            <a:outerShdw blurRad="50800" dist="38100" dir="8100000" algn="tr" rotWithShape="0">
              <a:prstClr val="black">
                <a:alpha val="40000"/>
              </a:prstClr>
            </a:outerShdw>
          </a:effectLst>
        </p:spPr>
        <p:txBody>
          <a:bodyPr wrap="square" rtlCol="0">
            <a:spAutoFit/>
            <a:scene3d>
              <a:camera prst="orthographicFront"/>
              <a:lightRig rig="threePt" dir="t"/>
            </a:scene3d>
            <a:sp3d extrusionH="57150">
              <a:bevelT w="38100" h="38100"/>
              <a:bevelB w="38100" h="38100"/>
            </a:sp3d>
          </a:bodyPr>
          <a:lstStyle/>
          <a:p>
            <a:pPr algn="ctr"/>
            <a:r>
              <a:rPr lang="en-US" sz="5400" b="1" spc="-150" dirty="0">
                <a:solidFill>
                  <a:srgbClr val="3366FF"/>
                </a:solidFill>
              </a:rPr>
              <a:t>Sales Performance Analysis of Walmart Stores Using Advanced MySQL Techniques</a:t>
            </a:r>
            <a:endParaRPr lang="en-IN" sz="5400" b="1" spc="-150" dirty="0">
              <a:solidFill>
                <a:srgbClr val="3366FF"/>
              </a:solidFill>
            </a:endParaRPr>
          </a:p>
        </p:txBody>
      </p:sp>
      <p:sp>
        <p:nvSpPr>
          <p:cNvPr id="2" name="TextBox 1">
            <a:extLst>
              <a:ext uri="{FF2B5EF4-FFF2-40B4-BE49-F238E27FC236}">
                <a16:creationId xmlns:a16="http://schemas.microsoft.com/office/drawing/2014/main" id="{B3793202-E3AB-B87C-8081-C840FC3ABE9D}"/>
              </a:ext>
            </a:extLst>
          </p:cNvPr>
          <p:cNvSpPr txBox="1"/>
          <p:nvPr/>
        </p:nvSpPr>
        <p:spPr>
          <a:xfrm>
            <a:off x="210457" y="6150075"/>
            <a:ext cx="11771085" cy="461665"/>
          </a:xfrm>
          <a:prstGeom prst="rect">
            <a:avLst/>
          </a:prstGeom>
          <a:noFill/>
        </p:spPr>
        <p:txBody>
          <a:bodyPr wrap="square" rtlCol="0">
            <a:spAutoFit/>
          </a:bodyPr>
          <a:lstStyle/>
          <a:p>
            <a:r>
              <a:rPr lang="en-IN" sz="2400" b="1" spc="-150" dirty="0">
                <a:solidFill>
                  <a:srgbClr val="3366FF"/>
                </a:solidFill>
              </a:rPr>
              <a:t>Link:- https://drive.google.com/file/d/1dNN1m-G8VhODNEo-QTGe1imBxGkN87oq/view?usp=sharing</a:t>
            </a:r>
          </a:p>
        </p:txBody>
      </p:sp>
    </p:spTree>
    <p:extLst>
      <p:ext uri="{BB962C8B-B14F-4D97-AF65-F5344CB8AC3E}">
        <p14:creationId xmlns:p14="http://schemas.microsoft.com/office/powerpoint/2010/main" val="3915646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6DABF5-DCFE-3B19-1ADF-876B52AF040B}"/>
              </a:ext>
            </a:extLst>
          </p:cNvPr>
          <p:cNvSpPr txBox="1"/>
          <p:nvPr/>
        </p:nvSpPr>
        <p:spPr>
          <a:xfrm>
            <a:off x="1828800" y="501446"/>
            <a:ext cx="8598310" cy="923330"/>
          </a:xfrm>
          <a:prstGeom prst="rect">
            <a:avLst/>
          </a:prstGeom>
          <a:noFill/>
        </p:spPr>
        <p:txBody>
          <a:bodyPr wrap="square" rtlCol="0">
            <a:spAutoFit/>
          </a:bodyPr>
          <a:lstStyle/>
          <a:p>
            <a:pPr algn="ctr"/>
            <a:r>
              <a:rPr lang="en-IN" sz="5400" b="1" spc="-150" dirty="0">
                <a:solidFill>
                  <a:srgbClr val="3366FF"/>
                </a:solidFill>
              </a:rPr>
              <a:t>BUSINESS PROBLEM:</a:t>
            </a:r>
          </a:p>
        </p:txBody>
      </p:sp>
      <p:sp>
        <p:nvSpPr>
          <p:cNvPr id="6" name="TextBox 5">
            <a:extLst>
              <a:ext uri="{FF2B5EF4-FFF2-40B4-BE49-F238E27FC236}">
                <a16:creationId xmlns:a16="http://schemas.microsoft.com/office/drawing/2014/main" id="{75EC283A-BE81-FE2D-DD51-794D2E6511A6}"/>
              </a:ext>
            </a:extLst>
          </p:cNvPr>
          <p:cNvSpPr txBox="1"/>
          <p:nvPr/>
        </p:nvSpPr>
        <p:spPr>
          <a:xfrm>
            <a:off x="221226" y="2064774"/>
            <a:ext cx="11783961" cy="2554545"/>
          </a:xfrm>
          <a:prstGeom prst="rect">
            <a:avLst/>
          </a:prstGeom>
          <a:noFill/>
        </p:spPr>
        <p:txBody>
          <a:bodyPr wrap="square" rtlCol="0">
            <a:spAutoFit/>
          </a:bodyPr>
          <a:lstStyle/>
          <a:p>
            <a:r>
              <a:rPr lang="en-US" sz="3200" dirty="0">
                <a:solidFill>
                  <a:srgbClr val="0070C0"/>
                </a:solidFill>
              </a:rPr>
              <a:t>Walmart wants to optimize its sales strategies by analyzing historical transaction data across branches, customer types, payment methods, and product lines. To achieve this, advanced MySQL queries will be employed to answer challenging business questions related to sales performance, customer segmentation, and product trends.</a:t>
            </a:r>
            <a:endParaRPr lang="en-IN" sz="3200" dirty="0">
              <a:solidFill>
                <a:srgbClr val="0070C0"/>
              </a:solidFill>
            </a:endParaRPr>
          </a:p>
        </p:txBody>
      </p:sp>
    </p:spTree>
    <p:extLst>
      <p:ext uri="{BB962C8B-B14F-4D97-AF65-F5344CB8AC3E}">
        <p14:creationId xmlns:p14="http://schemas.microsoft.com/office/powerpoint/2010/main" val="3639871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BB055-7129-EC11-0C50-B165E04F9BA6}"/>
              </a:ext>
            </a:extLst>
          </p:cNvPr>
          <p:cNvSpPr>
            <a:spLocks noGrp="1"/>
          </p:cNvSpPr>
          <p:nvPr>
            <p:ph type="title"/>
          </p:nvPr>
        </p:nvSpPr>
        <p:spPr>
          <a:xfrm>
            <a:off x="245806" y="25912"/>
            <a:ext cx="11474246" cy="1183456"/>
          </a:xfrm>
        </p:spPr>
        <p:txBody>
          <a:bodyPr>
            <a:normAutofit/>
          </a:bodyPr>
          <a:lstStyle/>
          <a:p>
            <a:pPr algn="ctr"/>
            <a:r>
              <a:rPr lang="en-US" sz="3600" dirty="0"/>
              <a:t>Task 1: Identifying the Top Branch by Sales Growth Rate </a:t>
            </a:r>
            <a:endParaRPr lang="en-IN" sz="3600" dirty="0"/>
          </a:p>
        </p:txBody>
      </p:sp>
      <p:sp>
        <p:nvSpPr>
          <p:cNvPr id="3" name="Content Placeholder 2">
            <a:extLst>
              <a:ext uri="{FF2B5EF4-FFF2-40B4-BE49-F238E27FC236}">
                <a16:creationId xmlns:a16="http://schemas.microsoft.com/office/drawing/2014/main" id="{126A540D-6A09-0977-B228-5718C658E297}"/>
              </a:ext>
            </a:extLst>
          </p:cNvPr>
          <p:cNvSpPr>
            <a:spLocks noGrp="1"/>
          </p:cNvSpPr>
          <p:nvPr>
            <p:ph idx="1"/>
          </p:nvPr>
        </p:nvSpPr>
        <p:spPr>
          <a:xfrm>
            <a:off x="245806" y="1548581"/>
            <a:ext cx="11107994" cy="4944294"/>
          </a:xfrm>
        </p:spPr>
        <p:txBody>
          <a:bodyPr>
            <a:normAutofit fontScale="77500" lnSpcReduction="20000"/>
          </a:bodyPr>
          <a:lstStyle/>
          <a:p>
            <a:pPr marL="0" indent="0">
              <a:buNone/>
            </a:pPr>
            <a:r>
              <a:rPr lang="en-US" dirty="0">
                <a:solidFill>
                  <a:schemeClr val="accent1">
                    <a:lumMod val="50000"/>
                  </a:schemeClr>
                </a:solidFill>
              </a:rPr>
              <a:t>select Branch, </a:t>
            </a:r>
            <a:r>
              <a:rPr lang="en-US" dirty="0" err="1">
                <a:solidFill>
                  <a:schemeClr val="accent1">
                    <a:lumMod val="50000"/>
                  </a:schemeClr>
                </a:solidFill>
              </a:rPr>
              <a:t>YearMonth</a:t>
            </a:r>
            <a:r>
              <a:rPr lang="en-US" dirty="0">
                <a:solidFill>
                  <a:schemeClr val="accent1">
                    <a:lumMod val="50000"/>
                  </a:schemeClr>
                </a:solidFill>
              </a:rPr>
              <a:t>, </a:t>
            </a:r>
            <a:r>
              <a:rPr lang="en-US" dirty="0" err="1">
                <a:solidFill>
                  <a:schemeClr val="accent1">
                    <a:lumMod val="50000"/>
                  </a:schemeClr>
                </a:solidFill>
              </a:rPr>
              <a:t>TotalSales</a:t>
            </a:r>
            <a:r>
              <a:rPr lang="en-US" dirty="0">
                <a:solidFill>
                  <a:schemeClr val="accent1">
                    <a:lumMod val="50000"/>
                  </a:schemeClr>
                </a:solidFill>
              </a:rPr>
              <a:t>, </a:t>
            </a:r>
          </a:p>
          <a:p>
            <a:pPr marL="0" indent="0">
              <a:buNone/>
            </a:pPr>
            <a:r>
              <a:rPr lang="en-US" dirty="0">
                <a:solidFill>
                  <a:schemeClr val="accent1">
                    <a:lumMod val="50000"/>
                  </a:schemeClr>
                </a:solidFill>
              </a:rPr>
              <a:t>       ((</a:t>
            </a:r>
            <a:r>
              <a:rPr lang="en-US" dirty="0" err="1">
                <a:solidFill>
                  <a:schemeClr val="accent1">
                    <a:lumMod val="50000"/>
                  </a:schemeClr>
                </a:solidFill>
              </a:rPr>
              <a:t>TotalSales</a:t>
            </a:r>
            <a:r>
              <a:rPr lang="en-US" dirty="0">
                <a:solidFill>
                  <a:schemeClr val="accent1">
                    <a:lumMod val="50000"/>
                  </a:schemeClr>
                </a:solidFill>
              </a:rPr>
              <a:t> - </a:t>
            </a:r>
            <a:r>
              <a:rPr lang="en-US" dirty="0" err="1">
                <a:solidFill>
                  <a:schemeClr val="accent1">
                    <a:lumMod val="50000"/>
                  </a:schemeClr>
                </a:solidFill>
              </a:rPr>
              <a:t>PrevMonthSales</a:t>
            </a:r>
            <a:r>
              <a:rPr lang="en-US" dirty="0">
                <a:solidFill>
                  <a:schemeClr val="accent1">
                    <a:lumMod val="50000"/>
                  </a:schemeClr>
                </a:solidFill>
              </a:rPr>
              <a:t>) / </a:t>
            </a:r>
            <a:r>
              <a:rPr lang="en-US" dirty="0" err="1">
                <a:solidFill>
                  <a:schemeClr val="accent1">
                    <a:lumMod val="50000"/>
                  </a:schemeClr>
                </a:solidFill>
              </a:rPr>
              <a:t>PrevMonthSales</a:t>
            </a:r>
            <a:r>
              <a:rPr lang="en-US" dirty="0">
                <a:solidFill>
                  <a:schemeClr val="accent1">
                    <a:lumMod val="50000"/>
                  </a:schemeClr>
                </a:solidFill>
              </a:rPr>
              <a:t>)*100 as </a:t>
            </a:r>
            <a:r>
              <a:rPr lang="en-US" dirty="0" err="1">
                <a:solidFill>
                  <a:schemeClr val="accent1">
                    <a:lumMod val="50000"/>
                  </a:schemeClr>
                </a:solidFill>
              </a:rPr>
              <a:t>SalesGrowth_percent</a:t>
            </a:r>
            <a:endParaRPr lang="en-US" dirty="0">
              <a:solidFill>
                <a:schemeClr val="accent1">
                  <a:lumMod val="50000"/>
                </a:schemeClr>
              </a:solidFill>
            </a:endParaRPr>
          </a:p>
          <a:p>
            <a:pPr marL="0" indent="0">
              <a:buNone/>
            </a:pPr>
            <a:r>
              <a:rPr lang="en-US" dirty="0">
                <a:solidFill>
                  <a:schemeClr val="accent1">
                    <a:lumMod val="50000"/>
                  </a:schemeClr>
                </a:solidFill>
              </a:rPr>
              <a:t>from (</a:t>
            </a:r>
          </a:p>
          <a:p>
            <a:pPr marL="0" indent="0">
              <a:buNone/>
            </a:pPr>
            <a:r>
              <a:rPr lang="en-US" dirty="0">
                <a:solidFill>
                  <a:schemeClr val="accent1">
                    <a:lumMod val="50000"/>
                  </a:schemeClr>
                </a:solidFill>
              </a:rPr>
              <a:t>    select Branch, </a:t>
            </a:r>
          </a:p>
          <a:p>
            <a:pPr marL="0" indent="0">
              <a:buNone/>
            </a:pPr>
            <a:r>
              <a:rPr lang="en-US" dirty="0">
                <a:solidFill>
                  <a:schemeClr val="accent1">
                    <a:lumMod val="50000"/>
                  </a:schemeClr>
                </a:solidFill>
              </a:rPr>
              <a:t>           </a:t>
            </a:r>
            <a:r>
              <a:rPr lang="en-US" dirty="0" err="1">
                <a:solidFill>
                  <a:schemeClr val="accent1">
                    <a:lumMod val="50000"/>
                  </a:schemeClr>
                </a:solidFill>
              </a:rPr>
              <a:t>date_format</a:t>
            </a:r>
            <a:r>
              <a:rPr lang="en-US" dirty="0">
                <a:solidFill>
                  <a:schemeClr val="accent1">
                    <a:lumMod val="50000"/>
                  </a:schemeClr>
                </a:solidFill>
              </a:rPr>
              <a:t>(</a:t>
            </a:r>
            <a:r>
              <a:rPr lang="en-US" dirty="0" err="1">
                <a:solidFill>
                  <a:schemeClr val="accent1">
                    <a:lumMod val="50000"/>
                  </a:schemeClr>
                </a:solidFill>
              </a:rPr>
              <a:t>str_to_date</a:t>
            </a:r>
            <a:r>
              <a:rPr lang="en-US" dirty="0">
                <a:solidFill>
                  <a:schemeClr val="accent1">
                    <a:lumMod val="50000"/>
                  </a:schemeClr>
                </a:solidFill>
              </a:rPr>
              <a:t>(Date, '%d-%m-%Y'), '%Y-%m') as </a:t>
            </a:r>
            <a:r>
              <a:rPr lang="en-US" dirty="0" err="1">
                <a:solidFill>
                  <a:schemeClr val="accent1">
                    <a:lumMod val="50000"/>
                  </a:schemeClr>
                </a:solidFill>
              </a:rPr>
              <a:t>YearMonth</a:t>
            </a:r>
            <a:r>
              <a:rPr lang="en-US" dirty="0">
                <a:solidFill>
                  <a:schemeClr val="accent1">
                    <a:lumMod val="50000"/>
                  </a:schemeClr>
                </a:solidFill>
              </a:rPr>
              <a:t>,</a:t>
            </a:r>
          </a:p>
          <a:p>
            <a:pPr marL="0" indent="0">
              <a:buNone/>
            </a:pPr>
            <a:r>
              <a:rPr lang="en-US" dirty="0">
                <a:solidFill>
                  <a:schemeClr val="accent1">
                    <a:lumMod val="50000"/>
                  </a:schemeClr>
                </a:solidFill>
              </a:rPr>
              <a:t>           sum(Total) as </a:t>
            </a:r>
            <a:r>
              <a:rPr lang="en-US" dirty="0" err="1">
                <a:solidFill>
                  <a:schemeClr val="accent1">
                    <a:lumMod val="50000"/>
                  </a:schemeClr>
                </a:solidFill>
              </a:rPr>
              <a:t>TotalSales</a:t>
            </a:r>
            <a:r>
              <a:rPr lang="en-US" dirty="0">
                <a:solidFill>
                  <a:schemeClr val="accent1">
                    <a:lumMod val="50000"/>
                  </a:schemeClr>
                </a:solidFill>
              </a:rPr>
              <a:t>,</a:t>
            </a:r>
          </a:p>
          <a:p>
            <a:pPr marL="0" indent="0">
              <a:buNone/>
            </a:pPr>
            <a:r>
              <a:rPr lang="en-US" dirty="0">
                <a:solidFill>
                  <a:schemeClr val="accent1">
                    <a:lumMod val="50000"/>
                  </a:schemeClr>
                </a:solidFill>
              </a:rPr>
              <a:t>           lag(sum(Total)) OVER (partition by Branch order by </a:t>
            </a:r>
            <a:r>
              <a:rPr lang="en-US" dirty="0" err="1">
                <a:solidFill>
                  <a:schemeClr val="accent1">
                    <a:lumMod val="50000"/>
                  </a:schemeClr>
                </a:solidFill>
              </a:rPr>
              <a:t>date_format</a:t>
            </a:r>
            <a:r>
              <a:rPr lang="en-US" dirty="0">
                <a:solidFill>
                  <a:schemeClr val="accent1">
                    <a:lumMod val="50000"/>
                  </a:schemeClr>
                </a:solidFill>
              </a:rPr>
              <a:t>(</a:t>
            </a:r>
            <a:r>
              <a:rPr lang="en-US" dirty="0" err="1">
                <a:solidFill>
                  <a:schemeClr val="accent1">
                    <a:lumMod val="50000"/>
                  </a:schemeClr>
                </a:solidFill>
              </a:rPr>
              <a:t>str_to_date</a:t>
            </a:r>
            <a:r>
              <a:rPr lang="en-US" dirty="0">
                <a:solidFill>
                  <a:schemeClr val="accent1">
                    <a:lumMod val="50000"/>
                  </a:schemeClr>
                </a:solidFill>
              </a:rPr>
              <a:t>(Date, '%d-%m-%Y'), '%Y-%m')) as </a:t>
            </a:r>
            <a:r>
              <a:rPr lang="en-US" dirty="0" err="1">
                <a:solidFill>
                  <a:schemeClr val="accent1">
                    <a:lumMod val="50000"/>
                  </a:schemeClr>
                </a:solidFill>
              </a:rPr>
              <a:t>PrevMonthSales</a:t>
            </a:r>
            <a:endParaRPr lang="en-US" dirty="0">
              <a:solidFill>
                <a:schemeClr val="accent1">
                  <a:lumMod val="50000"/>
                </a:schemeClr>
              </a:solidFill>
            </a:endParaRPr>
          </a:p>
          <a:p>
            <a:pPr marL="0" indent="0">
              <a:buNone/>
            </a:pPr>
            <a:r>
              <a:rPr lang="en-US" dirty="0">
                <a:solidFill>
                  <a:schemeClr val="accent1">
                    <a:lumMod val="50000"/>
                  </a:schemeClr>
                </a:solidFill>
              </a:rPr>
              <a:t>    from </a:t>
            </a:r>
            <a:r>
              <a:rPr lang="en-US" dirty="0" err="1">
                <a:solidFill>
                  <a:schemeClr val="accent1">
                    <a:lumMod val="50000"/>
                  </a:schemeClr>
                </a:solidFill>
              </a:rPr>
              <a:t>walmartsales</a:t>
            </a:r>
            <a:endParaRPr lang="en-US" dirty="0">
              <a:solidFill>
                <a:schemeClr val="accent1">
                  <a:lumMod val="50000"/>
                </a:schemeClr>
              </a:solidFill>
            </a:endParaRPr>
          </a:p>
          <a:p>
            <a:pPr marL="0" indent="0">
              <a:buNone/>
            </a:pPr>
            <a:r>
              <a:rPr lang="en-US" dirty="0">
                <a:solidFill>
                  <a:schemeClr val="accent1">
                    <a:lumMod val="50000"/>
                  </a:schemeClr>
                </a:solidFill>
              </a:rPr>
              <a:t>    group by Branch, </a:t>
            </a:r>
            <a:r>
              <a:rPr lang="en-US" dirty="0" err="1">
                <a:solidFill>
                  <a:schemeClr val="accent1">
                    <a:lumMod val="50000"/>
                  </a:schemeClr>
                </a:solidFill>
              </a:rPr>
              <a:t>YearMonth</a:t>
            </a:r>
            <a:endParaRPr lang="en-US" dirty="0">
              <a:solidFill>
                <a:schemeClr val="accent1">
                  <a:lumMod val="50000"/>
                </a:schemeClr>
              </a:solidFill>
            </a:endParaRPr>
          </a:p>
          <a:p>
            <a:pPr marL="0" indent="0">
              <a:buNone/>
            </a:pPr>
            <a:r>
              <a:rPr lang="en-US" dirty="0">
                <a:solidFill>
                  <a:schemeClr val="accent1">
                    <a:lumMod val="50000"/>
                  </a:schemeClr>
                </a:solidFill>
              </a:rPr>
              <a:t>) as </a:t>
            </a:r>
            <a:r>
              <a:rPr lang="en-US" dirty="0" err="1">
                <a:solidFill>
                  <a:schemeClr val="accent1">
                    <a:lumMod val="50000"/>
                  </a:schemeClr>
                </a:solidFill>
              </a:rPr>
              <a:t>SalesData</a:t>
            </a:r>
            <a:endParaRPr lang="en-US" dirty="0">
              <a:solidFill>
                <a:schemeClr val="accent1">
                  <a:lumMod val="50000"/>
                </a:schemeClr>
              </a:solidFill>
            </a:endParaRPr>
          </a:p>
          <a:p>
            <a:pPr marL="0" indent="0">
              <a:buNone/>
            </a:pPr>
            <a:r>
              <a:rPr lang="en-US" dirty="0">
                <a:solidFill>
                  <a:schemeClr val="accent1">
                    <a:lumMod val="50000"/>
                  </a:schemeClr>
                </a:solidFill>
              </a:rPr>
              <a:t>where </a:t>
            </a:r>
            <a:r>
              <a:rPr lang="en-US" dirty="0" err="1">
                <a:solidFill>
                  <a:schemeClr val="accent1">
                    <a:lumMod val="50000"/>
                  </a:schemeClr>
                </a:solidFill>
              </a:rPr>
              <a:t>PrevMonthSales</a:t>
            </a:r>
            <a:r>
              <a:rPr lang="en-US" dirty="0">
                <a:solidFill>
                  <a:schemeClr val="accent1">
                    <a:lumMod val="50000"/>
                  </a:schemeClr>
                </a:solidFill>
              </a:rPr>
              <a:t> is not null </a:t>
            </a:r>
          </a:p>
          <a:p>
            <a:pPr marL="0" indent="0">
              <a:buNone/>
            </a:pPr>
            <a:r>
              <a:rPr lang="en-US" dirty="0">
                <a:solidFill>
                  <a:schemeClr val="accent1">
                    <a:lumMod val="50000"/>
                  </a:schemeClr>
                </a:solidFill>
              </a:rPr>
              <a:t>order by </a:t>
            </a:r>
            <a:r>
              <a:rPr lang="en-US" dirty="0" err="1">
                <a:solidFill>
                  <a:schemeClr val="accent1">
                    <a:lumMod val="50000"/>
                  </a:schemeClr>
                </a:solidFill>
              </a:rPr>
              <a:t>SalesGrowth_percent</a:t>
            </a:r>
            <a:r>
              <a:rPr lang="en-US" dirty="0">
                <a:solidFill>
                  <a:schemeClr val="accent1">
                    <a:lumMod val="50000"/>
                  </a:schemeClr>
                </a:solidFill>
              </a:rPr>
              <a:t> desc</a:t>
            </a:r>
          </a:p>
          <a:p>
            <a:pPr marL="0" indent="0">
              <a:buNone/>
            </a:pPr>
            <a:r>
              <a:rPr lang="en-US" dirty="0">
                <a:solidFill>
                  <a:schemeClr val="accent1">
                    <a:lumMod val="50000"/>
                  </a:schemeClr>
                </a:solidFill>
              </a:rPr>
              <a:t>limit 1;</a:t>
            </a:r>
            <a:endParaRPr lang="en-IN" dirty="0"/>
          </a:p>
        </p:txBody>
      </p:sp>
      <p:sp>
        <p:nvSpPr>
          <p:cNvPr id="4" name="TextBox 3">
            <a:extLst>
              <a:ext uri="{FF2B5EF4-FFF2-40B4-BE49-F238E27FC236}">
                <a16:creationId xmlns:a16="http://schemas.microsoft.com/office/drawing/2014/main" id="{18DE2BDD-405C-6360-80AE-BC4C9DB0DDF5}"/>
              </a:ext>
            </a:extLst>
          </p:cNvPr>
          <p:cNvSpPr txBox="1"/>
          <p:nvPr/>
        </p:nvSpPr>
        <p:spPr>
          <a:xfrm>
            <a:off x="5466735" y="1009643"/>
            <a:ext cx="1656736" cy="461665"/>
          </a:xfrm>
          <a:prstGeom prst="rect">
            <a:avLst/>
          </a:prstGeom>
          <a:noFill/>
        </p:spPr>
        <p:txBody>
          <a:bodyPr wrap="square" rtlCol="0">
            <a:spAutoFit/>
          </a:bodyPr>
          <a:lstStyle/>
          <a:p>
            <a:r>
              <a:rPr lang="en-IN" sz="2400" b="1" dirty="0">
                <a:solidFill>
                  <a:schemeClr val="accent1">
                    <a:lumMod val="50000"/>
                  </a:schemeClr>
                </a:solidFill>
              </a:rPr>
              <a:t>Query:-</a:t>
            </a:r>
          </a:p>
        </p:txBody>
      </p:sp>
    </p:spTree>
    <p:extLst>
      <p:ext uri="{BB962C8B-B14F-4D97-AF65-F5344CB8AC3E}">
        <p14:creationId xmlns:p14="http://schemas.microsoft.com/office/powerpoint/2010/main" val="1292603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19CB4-4341-B93D-B34C-08EC163ED386}"/>
              </a:ext>
            </a:extLst>
          </p:cNvPr>
          <p:cNvSpPr>
            <a:spLocks noGrp="1"/>
          </p:cNvSpPr>
          <p:nvPr>
            <p:ph type="title"/>
          </p:nvPr>
        </p:nvSpPr>
        <p:spPr>
          <a:xfrm>
            <a:off x="838200" y="307028"/>
            <a:ext cx="10515600" cy="623222"/>
          </a:xfrm>
        </p:spPr>
        <p:txBody>
          <a:bodyPr/>
          <a:lstStyle/>
          <a:p>
            <a:pPr algn="ctr"/>
            <a:r>
              <a:rPr lang="en-IN" dirty="0"/>
              <a:t>VISUAL REPRESENTATION</a:t>
            </a:r>
          </a:p>
        </p:txBody>
      </p:sp>
      <p:graphicFrame>
        <p:nvGraphicFramePr>
          <p:cNvPr id="4" name="Table 3">
            <a:extLst>
              <a:ext uri="{FF2B5EF4-FFF2-40B4-BE49-F238E27FC236}">
                <a16:creationId xmlns:a16="http://schemas.microsoft.com/office/drawing/2014/main" id="{0F79BBAD-0B15-7722-5E74-9C65A64823E4}"/>
              </a:ext>
            </a:extLst>
          </p:cNvPr>
          <p:cNvGraphicFramePr>
            <a:graphicFrameLocks noGrp="1"/>
          </p:cNvGraphicFramePr>
          <p:nvPr>
            <p:extLst>
              <p:ext uri="{D42A27DB-BD31-4B8C-83A1-F6EECF244321}">
                <p14:modId xmlns:p14="http://schemas.microsoft.com/office/powerpoint/2010/main" val="2948879947"/>
              </p:ext>
            </p:extLst>
          </p:nvPr>
        </p:nvGraphicFramePr>
        <p:xfrm>
          <a:off x="2288275" y="1640800"/>
          <a:ext cx="7615450" cy="1788200"/>
        </p:xfrm>
        <a:graphic>
          <a:graphicData uri="http://schemas.openxmlformats.org/drawingml/2006/table">
            <a:tbl>
              <a:tblPr>
                <a:effectLst>
                  <a:outerShdw blurRad="50800" dist="38100" dir="2700000" algn="tl" rotWithShape="0">
                    <a:prstClr val="black">
                      <a:alpha val="40000"/>
                    </a:prstClr>
                  </a:outerShdw>
                </a:effectLst>
              </a:tblPr>
              <a:tblGrid>
                <a:gridCol w="1230527">
                  <a:extLst>
                    <a:ext uri="{9D8B030D-6E8A-4147-A177-3AD203B41FA5}">
                      <a16:colId xmlns:a16="http://schemas.microsoft.com/office/drawing/2014/main" val="2045993883"/>
                    </a:ext>
                  </a:extLst>
                </a:gridCol>
                <a:gridCol w="1757894">
                  <a:extLst>
                    <a:ext uri="{9D8B030D-6E8A-4147-A177-3AD203B41FA5}">
                      <a16:colId xmlns:a16="http://schemas.microsoft.com/office/drawing/2014/main" val="693038001"/>
                    </a:ext>
                  </a:extLst>
                </a:gridCol>
                <a:gridCol w="1632330">
                  <a:extLst>
                    <a:ext uri="{9D8B030D-6E8A-4147-A177-3AD203B41FA5}">
                      <a16:colId xmlns:a16="http://schemas.microsoft.com/office/drawing/2014/main" val="2082045349"/>
                    </a:ext>
                  </a:extLst>
                </a:gridCol>
                <a:gridCol w="2994699">
                  <a:extLst>
                    <a:ext uri="{9D8B030D-6E8A-4147-A177-3AD203B41FA5}">
                      <a16:colId xmlns:a16="http://schemas.microsoft.com/office/drawing/2014/main" val="1354406238"/>
                    </a:ext>
                  </a:extLst>
                </a:gridCol>
              </a:tblGrid>
              <a:tr h="894100">
                <a:tc>
                  <a:txBody>
                    <a:bodyPr/>
                    <a:lstStyle/>
                    <a:p>
                      <a:pPr algn="ctr" fontAlgn="b"/>
                      <a:r>
                        <a:rPr lang="en-IN" sz="2400" b="1" i="0" u="none" strike="noStrike">
                          <a:solidFill>
                            <a:srgbClr val="FFFFFF"/>
                          </a:solidFill>
                          <a:effectLst/>
                          <a:latin typeface="Calibri" panose="020F0502020204030204" pitchFamily="34" charset="0"/>
                        </a:rPr>
                        <a:t>Branch</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472C4"/>
                    </a:solidFill>
                  </a:tcPr>
                </a:tc>
                <a:tc>
                  <a:txBody>
                    <a:bodyPr/>
                    <a:lstStyle/>
                    <a:p>
                      <a:pPr algn="ctr" fontAlgn="b"/>
                      <a:r>
                        <a:rPr lang="en-IN" sz="2400" b="1" i="0" u="none" strike="noStrike">
                          <a:solidFill>
                            <a:srgbClr val="FFFFFF"/>
                          </a:solidFill>
                          <a:effectLst/>
                          <a:latin typeface="Calibri" panose="020F0502020204030204" pitchFamily="34" charset="0"/>
                        </a:rPr>
                        <a:t>YearMonth</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472C4"/>
                    </a:solidFill>
                  </a:tcPr>
                </a:tc>
                <a:tc>
                  <a:txBody>
                    <a:bodyPr/>
                    <a:lstStyle/>
                    <a:p>
                      <a:pPr algn="ctr" fontAlgn="b"/>
                      <a:r>
                        <a:rPr lang="en-IN" sz="2400" b="1" i="0" u="none" strike="noStrike">
                          <a:solidFill>
                            <a:srgbClr val="FFFFFF"/>
                          </a:solidFill>
                          <a:effectLst/>
                          <a:latin typeface="Calibri" panose="020F0502020204030204" pitchFamily="34" charset="0"/>
                        </a:rPr>
                        <a:t>TotalSales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472C4"/>
                    </a:solidFill>
                  </a:tcPr>
                </a:tc>
                <a:tc>
                  <a:txBody>
                    <a:bodyPr/>
                    <a:lstStyle/>
                    <a:p>
                      <a:pPr algn="ctr" fontAlgn="b"/>
                      <a:r>
                        <a:rPr lang="en-IN" sz="2400" b="1" i="0" u="none" strike="noStrike" dirty="0" err="1">
                          <a:solidFill>
                            <a:srgbClr val="FFFFFF"/>
                          </a:solidFill>
                          <a:effectLst/>
                          <a:latin typeface="Calibri" panose="020F0502020204030204" pitchFamily="34" charset="0"/>
                        </a:rPr>
                        <a:t>SalesGrowth_percent</a:t>
                      </a:r>
                      <a:endParaRPr lang="en-IN" sz="2400" b="1" i="0" u="none" strike="noStrike" dirty="0">
                        <a:solidFill>
                          <a:srgbClr val="FFFFFF"/>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2658338815"/>
                  </a:ext>
                </a:extLst>
              </a:tr>
              <a:tr h="894100">
                <a:tc>
                  <a:txBody>
                    <a:bodyPr/>
                    <a:lstStyle/>
                    <a:p>
                      <a:pPr algn="ctr" fontAlgn="b"/>
                      <a:r>
                        <a:rPr lang="en-IN" sz="2400" b="1" i="0" u="none" strike="noStrike">
                          <a:solidFill>
                            <a:srgbClr val="000000"/>
                          </a:solidFill>
                          <a:effectLst/>
                          <a:latin typeface="Calibri" panose="020F0502020204030204" pitchFamily="34" charset="0"/>
                        </a:rPr>
                        <a:t>A</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fontAlgn="b"/>
                      <a:r>
                        <a:rPr lang="en-IN" sz="2400" b="1" i="0" u="none" strike="noStrike">
                          <a:solidFill>
                            <a:srgbClr val="000000"/>
                          </a:solidFill>
                          <a:effectLst/>
                          <a:latin typeface="Calibri" panose="020F0502020204030204" pitchFamily="34" charset="0"/>
                        </a:rPr>
                        <a:t>01-03-2019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fontAlgn="b"/>
                      <a:r>
                        <a:rPr lang="en-IN" sz="2400" b="1" i="0" u="none" strike="noStrike">
                          <a:solidFill>
                            <a:srgbClr val="000000"/>
                          </a:solidFill>
                          <a:effectLst/>
                          <a:latin typeface="Calibri" panose="020F0502020204030204" pitchFamily="34" charset="0"/>
                        </a:rPr>
                        <a:t>37659.1215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fontAlgn="b"/>
                      <a:r>
                        <a:rPr lang="en-IN" sz="2400" b="1" i="0" u="none" strike="noStrike" dirty="0">
                          <a:solidFill>
                            <a:srgbClr val="000000"/>
                          </a:solidFill>
                          <a:effectLst/>
                          <a:latin typeface="Calibri" panose="020F0502020204030204" pitchFamily="34" charset="0"/>
                        </a:rPr>
                        <a:t>26.1184512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1F2"/>
                    </a:solidFill>
                  </a:tcPr>
                </a:tc>
                <a:extLst>
                  <a:ext uri="{0D108BD9-81ED-4DB2-BD59-A6C34878D82A}">
                    <a16:rowId xmlns:a16="http://schemas.microsoft.com/office/drawing/2014/main" val="3357705693"/>
                  </a:ext>
                </a:extLst>
              </a:tr>
            </a:tbl>
          </a:graphicData>
        </a:graphic>
      </p:graphicFrame>
    </p:spTree>
    <p:extLst>
      <p:ext uri="{BB962C8B-B14F-4D97-AF65-F5344CB8AC3E}">
        <p14:creationId xmlns:p14="http://schemas.microsoft.com/office/powerpoint/2010/main" val="3643358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FA2D6-4C01-AAF3-3A13-B1118ED6E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28428-3550-C230-8CBD-91BFDA4B037D}"/>
              </a:ext>
            </a:extLst>
          </p:cNvPr>
          <p:cNvSpPr>
            <a:spLocks noGrp="1"/>
          </p:cNvSpPr>
          <p:nvPr>
            <p:ph type="title"/>
          </p:nvPr>
        </p:nvSpPr>
        <p:spPr>
          <a:xfrm>
            <a:off x="245806" y="25912"/>
            <a:ext cx="11474246" cy="1183456"/>
          </a:xfrm>
        </p:spPr>
        <p:txBody>
          <a:bodyPr>
            <a:normAutofit/>
          </a:bodyPr>
          <a:lstStyle/>
          <a:p>
            <a:pPr algn="ctr"/>
            <a:r>
              <a:rPr lang="en-US" sz="3200" dirty="0"/>
              <a:t>Task 2: Finding the Most Profitable Product Line for Each Branch</a:t>
            </a:r>
            <a:endParaRPr lang="en-IN" sz="3200" dirty="0"/>
          </a:p>
        </p:txBody>
      </p:sp>
      <p:sp>
        <p:nvSpPr>
          <p:cNvPr id="3" name="Content Placeholder 2">
            <a:extLst>
              <a:ext uri="{FF2B5EF4-FFF2-40B4-BE49-F238E27FC236}">
                <a16:creationId xmlns:a16="http://schemas.microsoft.com/office/drawing/2014/main" id="{B539E2BF-6934-A390-3ABB-7F0F3DCFDEF7}"/>
              </a:ext>
            </a:extLst>
          </p:cNvPr>
          <p:cNvSpPr>
            <a:spLocks noGrp="1"/>
          </p:cNvSpPr>
          <p:nvPr>
            <p:ph idx="1"/>
          </p:nvPr>
        </p:nvSpPr>
        <p:spPr>
          <a:xfrm>
            <a:off x="245806" y="1548581"/>
            <a:ext cx="11107994" cy="4944294"/>
          </a:xfrm>
        </p:spPr>
        <p:txBody>
          <a:bodyPr>
            <a:normAutofit fontScale="92500" lnSpcReduction="20000"/>
          </a:bodyPr>
          <a:lstStyle/>
          <a:p>
            <a:pPr marL="0" indent="0">
              <a:buNone/>
            </a:pPr>
            <a:r>
              <a:rPr lang="en-US" dirty="0">
                <a:solidFill>
                  <a:schemeClr val="accent1">
                    <a:lumMod val="50000"/>
                  </a:schemeClr>
                </a:solidFill>
              </a:rPr>
              <a:t>select Branch, </a:t>
            </a:r>
            <a:r>
              <a:rPr lang="en-US" dirty="0" err="1">
                <a:solidFill>
                  <a:schemeClr val="accent1">
                    <a:lumMod val="50000"/>
                  </a:schemeClr>
                </a:solidFill>
              </a:rPr>
              <a:t>Product_line</a:t>
            </a:r>
            <a:r>
              <a:rPr lang="en-US" dirty="0">
                <a:solidFill>
                  <a:schemeClr val="accent1">
                    <a:lumMod val="50000"/>
                  </a:schemeClr>
                </a:solidFill>
              </a:rPr>
              <a:t>,  (</a:t>
            </a:r>
            <a:r>
              <a:rPr lang="en-US" dirty="0" err="1">
                <a:solidFill>
                  <a:schemeClr val="accent1">
                    <a:lumMod val="50000"/>
                  </a:schemeClr>
                </a:solidFill>
              </a:rPr>
              <a:t>total_cogs</a:t>
            </a:r>
            <a:r>
              <a:rPr lang="en-US" dirty="0">
                <a:solidFill>
                  <a:schemeClr val="accent1">
                    <a:lumMod val="50000"/>
                  </a:schemeClr>
                </a:solidFill>
              </a:rPr>
              <a:t> - </a:t>
            </a:r>
            <a:r>
              <a:rPr lang="en-US" dirty="0" err="1">
                <a:solidFill>
                  <a:schemeClr val="accent1">
                    <a:lumMod val="50000"/>
                  </a:schemeClr>
                </a:solidFill>
              </a:rPr>
              <a:t>total_gross_income</a:t>
            </a:r>
            <a:r>
              <a:rPr lang="en-US" dirty="0">
                <a:solidFill>
                  <a:schemeClr val="accent1">
                    <a:lumMod val="50000"/>
                  </a:schemeClr>
                </a:solidFill>
              </a:rPr>
              <a:t>) as profit</a:t>
            </a:r>
          </a:p>
          <a:p>
            <a:pPr marL="0" indent="0">
              <a:buNone/>
            </a:pPr>
            <a:r>
              <a:rPr lang="en-US" dirty="0">
                <a:solidFill>
                  <a:schemeClr val="accent1">
                    <a:lumMod val="50000"/>
                  </a:schemeClr>
                </a:solidFill>
              </a:rPr>
              <a:t>from(</a:t>
            </a:r>
          </a:p>
          <a:p>
            <a:pPr marL="0" indent="0">
              <a:buNone/>
            </a:pPr>
            <a:r>
              <a:rPr lang="en-US" dirty="0">
                <a:solidFill>
                  <a:schemeClr val="accent1">
                    <a:lumMod val="50000"/>
                  </a:schemeClr>
                </a:solidFill>
              </a:rPr>
              <a:t>     select Branch,</a:t>
            </a:r>
          </a:p>
          <a:p>
            <a:pPr marL="0" indent="0">
              <a:buNone/>
            </a:pPr>
            <a:r>
              <a:rPr lang="en-US" dirty="0">
                <a:solidFill>
                  <a:schemeClr val="accent1">
                    <a:lumMod val="50000"/>
                  </a:schemeClr>
                </a:solidFill>
              </a:rPr>
              <a:t>	</a:t>
            </a:r>
            <a:r>
              <a:rPr lang="en-US" dirty="0"/>
              <a:t>    </a:t>
            </a:r>
            <a:r>
              <a:rPr lang="en-US" dirty="0" err="1">
                <a:solidFill>
                  <a:schemeClr val="accent1">
                    <a:lumMod val="50000"/>
                  </a:schemeClr>
                </a:solidFill>
              </a:rPr>
              <a:t>Product_line</a:t>
            </a:r>
            <a:r>
              <a:rPr lang="en-US" dirty="0">
                <a:solidFill>
                  <a:schemeClr val="accent1">
                    <a:lumMod val="50000"/>
                  </a:schemeClr>
                </a:solidFill>
              </a:rPr>
              <a:t>,</a:t>
            </a:r>
          </a:p>
          <a:p>
            <a:pPr marL="0" indent="0">
              <a:buNone/>
            </a:pPr>
            <a:r>
              <a:rPr lang="en-US" dirty="0">
                <a:solidFill>
                  <a:schemeClr val="accent1">
                    <a:lumMod val="50000"/>
                  </a:schemeClr>
                </a:solidFill>
              </a:rPr>
              <a:t>     sum(cogs) as </a:t>
            </a:r>
            <a:r>
              <a:rPr lang="en-US" dirty="0" err="1">
                <a:solidFill>
                  <a:schemeClr val="accent1">
                    <a:lumMod val="50000"/>
                  </a:schemeClr>
                </a:solidFill>
              </a:rPr>
              <a:t>total_cogs</a:t>
            </a:r>
            <a:r>
              <a:rPr lang="en-US" dirty="0">
                <a:solidFill>
                  <a:schemeClr val="accent1">
                    <a:lumMod val="50000"/>
                  </a:schemeClr>
                </a:solidFill>
              </a:rPr>
              <a:t>,</a:t>
            </a:r>
          </a:p>
          <a:p>
            <a:pPr marL="0" indent="0">
              <a:buNone/>
            </a:pPr>
            <a:r>
              <a:rPr lang="en-US" dirty="0">
                <a:solidFill>
                  <a:schemeClr val="accent1">
                    <a:lumMod val="50000"/>
                  </a:schemeClr>
                </a:solidFill>
              </a:rPr>
              <a:t>     sum(</a:t>
            </a:r>
            <a:r>
              <a:rPr lang="en-US" dirty="0" err="1">
                <a:solidFill>
                  <a:schemeClr val="accent1">
                    <a:lumMod val="50000"/>
                  </a:schemeClr>
                </a:solidFill>
              </a:rPr>
              <a:t>gross_income</a:t>
            </a:r>
            <a:r>
              <a:rPr lang="en-US" dirty="0">
                <a:solidFill>
                  <a:schemeClr val="accent1">
                    <a:lumMod val="50000"/>
                  </a:schemeClr>
                </a:solidFill>
              </a:rPr>
              <a:t>) as </a:t>
            </a:r>
            <a:r>
              <a:rPr lang="en-US" dirty="0" err="1">
                <a:solidFill>
                  <a:schemeClr val="accent1">
                    <a:lumMod val="50000"/>
                  </a:schemeClr>
                </a:solidFill>
              </a:rPr>
              <a:t>total_gross_income</a:t>
            </a:r>
            <a:r>
              <a:rPr lang="en-US" dirty="0">
                <a:solidFill>
                  <a:schemeClr val="accent1">
                    <a:lumMod val="50000"/>
                  </a:schemeClr>
                </a:solidFill>
              </a:rPr>
              <a:t>,</a:t>
            </a:r>
          </a:p>
          <a:p>
            <a:pPr marL="0" indent="0">
              <a:buNone/>
            </a:pPr>
            <a:r>
              <a:rPr lang="en-US" dirty="0">
                <a:solidFill>
                  <a:schemeClr val="accent1">
                    <a:lumMod val="50000"/>
                  </a:schemeClr>
                </a:solidFill>
              </a:rPr>
              <a:t>     rank() over (partition by Branch order by (</a:t>
            </a:r>
            <a:r>
              <a:rPr lang="en-US" dirty="0" err="1">
                <a:solidFill>
                  <a:schemeClr val="accent1">
                    <a:lumMod val="50000"/>
                  </a:schemeClr>
                </a:solidFill>
              </a:rPr>
              <a:t>total_cogs</a:t>
            </a:r>
            <a:r>
              <a:rPr lang="en-US" dirty="0">
                <a:solidFill>
                  <a:schemeClr val="accent1">
                    <a:lumMod val="50000"/>
                  </a:schemeClr>
                </a:solidFill>
              </a:rPr>
              <a:t> - </a:t>
            </a:r>
            <a:r>
              <a:rPr lang="en-US" dirty="0" err="1">
                <a:solidFill>
                  <a:schemeClr val="accent1">
                    <a:lumMod val="50000"/>
                  </a:schemeClr>
                </a:solidFill>
              </a:rPr>
              <a:t>total_gross_income</a:t>
            </a:r>
            <a:r>
              <a:rPr lang="en-US" dirty="0">
                <a:solidFill>
                  <a:schemeClr val="accent1">
                    <a:lumMod val="50000"/>
                  </a:schemeClr>
                </a:solidFill>
              </a:rPr>
              <a:t>) desc ) as ranks</a:t>
            </a:r>
          </a:p>
          <a:p>
            <a:pPr marL="0" indent="0">
              <a:buNone/>
            </a:pPr>
            <a:r>
              <a:rPr lang="en-US" dirty="0"/>
              <a:t>    </a:t>
            </a:r>
            <a:r>
              <a:rPr lang="en-US" dirty="0">
                <a:solidFill>
                  <a:schemeClr val="accent1">
                    <a:lumMod val="50000"/>
                  </a:schemeClr>
                </a:solidFill>
              </a:rPr>
              <a:t>from </a:t>
            </a:r>
            <a:r>
              <a:rPr lang="en-US" dirty="0" err="1">
                <a:solidFill>
                  <a:schemeClr val="accent1">
                    <a:lumMod val="50000"/>
                  </a:schemeClr>
                </a:solidFill>
              </a:rPr>
              <a:t>walmartsales</a:t>
            </a:r>
            <a:endParaRPr lang="en-US" dirty="0">
              <a:solidFill>
                <a:schemeClr val="accent1">
                  <a:lumMod val="50000"/>
                </a:schemeClr>
              </a:solidFill>
            </a:endParaRPr>
          </a:p>
          <a:p>
            <a:pPr marL="0" indent="0">
              <a:buNone/>
            </a:pPr>
            <a:r>
              <a:rPr lang="en-US" dirty="0">
                <a:solidFill>
                  <a:schemeClr val="accent1">
                    <a:lumMod val="50000"/>
                  </a:schemeClr>
                </a:solidFill>
              </a:rPr>
              <a:t>    group by </a:t>
            </a:r>
            <a:r>
              <a:rPr lang="en-US" dirty="0" err="1">
                <a:solidFill>
                  <a:schemeClr val="accent1">
                    <a:lumMod val="50000"/>
                  </a:schemeClr>
                </a:solidFill>
              </a:rPr>
              <a:t>Branch,Product_line</a:t>
            </a:r>
            <a:r>
              <a:rPr lang="en-US" dirty="0">
                <a:solidFill>
                  <a:schemeClr val="accent1">
                    <a:lumMod val="50000"/>
                  </a:schemeClr>
                </a:solidFill>
              </a:rPr>
              <a:t>)</a:t>
            </a:r>
          </a:p>
          <a:p>
            <a:pPr marL="0" indent="0">
              <a:buNone/>
            </a:pPr>
            <a:r>
              <a:rPr lang="en-US" dirty="0">
                <a:solidFill>
                  <a:schemeClr val="accent1">
                    <a:lumMod val="50000"/>
                  </a:schemeClr>
                </a:solidFill>
              </a:rPr>
              <a:t>    as </a:t>
            </a:r>
            <a:r>
              <a:rPr lang="en-US" dirty="0" err="1">
                <a:solidFill>
                  <a:schemeClr val="accent1">
                    <a:lumMod val="50000"/>
                  </a:schemeClr>
                </a:solidFill>
              </a:rPr>
              <a:t>product_detail</a:t>
            </a:r>
            <a:endParaRPr lang="en-US" dirty="0">
              <a:solidFill>
                <a:schemeClr val="accent1">
                  <a:lumMod val="50000"/>
                </a:schemeClr>
              </a:solidFill>
            </a:endParaRPr>
          </a:p>
          <a:p>
            <a:pPr marL="0" indent="0">
              <a:buNone/>
            </a:pPr>
            <a:r>
              <a:rPr lang="en-US" dirty="0">
                <a:solidFill>
                  <a:schemeClr val="accent1">
                    <a:lumMod val="50000"/>
                  </a:schemeClr>
                </a:solidFill>
              </a:rPr>
              <a:t>    where ranks =1;</a:t>
            </a:r>
            <a:endParaRPr lang="en-IN" dirty="0"/>
          </a:p>
        </p:txBody>
      </p:sp>
      <p:sp>
        <p:nvSpPr>
          <p:cNvPr id="4" name="TextBox 3">
            <a:extLst>
              <a:ext uri="{FF2B5EF4-FFF2-40B4-BE49-F238E27FC236}">
                <a16:creationId xmlns:a16="http://schemas.microsoft.com/office/drawing/2014/main" id="{C3C54860-6C19-A40F-FD9B-94F426380538}"/>
              </a:ext>
            </a:extLst>
          </p:cNvPr>
          <p:cNvSpPr txBox="1"/>
          <p:nvPr/>
        </p:nvSpPr>
        <p:spPr>
          <a:xfrm>
            <a:off x="5466735" y="1009643"/>
            <a:ext cx="3731342" cy="461665"/>
          </a:xfrm>
          <a:prstGeom prst="rect">
            <a:avLst/>
          </a:prstGeom>
          <a:noFill/>
        </p:spPr>
        <p:txBody>
          <a:bodyPr wrap="square" rtlCol="0">
            <a:spAutoFit/>
          </a:bodyPr>
          <a:lstStyle/>
          <a:p>
            <a:r>
              <a:rPr lang="en-IN" sz="2400" b="1" dirty="0">
                <a:solidFill>
                  <a:schemeClr val="accent1">
                    <a:lumMod val="50000"/>
                  </a:schemeClr>
                </a:solidFill>
              </a:rPr>
              <a:t>Query:-</a:t>
            </a:r>
          </a:p>
        </p:txBody>
      </p:sp>
    </p:spTree>
    <p:extLst>
      <p:ext uri="{BB962C8B-B14F-4D97-AF65-F5344CB8AC3E}">
        <p14:creationId xmlns:p14="http://schemas.microsoft.com/office/powerpoint/2010/main" val="2259863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BB10B352-B31F-DFBF-1E03-02DBA1E225D4}"/>
              </a:ext>
            </a:extLst>
          </p:cNvPr>
          <p:cNvGraphicFramePr/>
          <p:nvPr>
            <p:extLst>
              <p:ext uri="{D42A27DB-BD31-4B8C-83A1-F6EECF244321}">
                <p14:modId xmlns:p14="http://schemas.microsoft.com/office/powerpoint/2010/main" val="453102006"/>
              </p:ext>
            </p:extLst>
          </p:nvPr>
        </p:nvGraphicFramePr>
        <p:xfrm>
          <a:off x="6671187" y="1411939"/>
          <a:ext cx="5381317" cy="40341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a:extLst>
              <a:ext uri="{FF2B5EF4-FFF2-40B4-BE49-F238E27FC236}">
                <a16:creationId xmlns:a16="http://schemas.microsoft.com/office/drawing/2014/main" id="{FA435DF0-205C-D290-9E12-40891FFC962A}"/>
              </a:ext>
            </a:extLst>
          </p:cNvPr>
          <p:cNvGraphicFramePr>
            <a:graphicFrameLocks noGrp="1"/>
          </p:cNvGraphicFramePr>
          <p:nvPr>
            <p:extLst>
              <p:ext uri="{D42A27DB-BD31-4B8C-83A1-F6EECF244321}">
                <p14:modId xmlns:p14="http://schemas.microsoft.com/office/powerpoint/2010/main" val="509132987"/>
              </p:ext>
            </p:extLst>
          </p:nvPr>
        </p:nvGraphicFramePr>
        <p:xfrm>
          <a:off x="139496" y="1393286"/>
          <a:ext cx="6161753" cy="2190572"/>
        </p:xfrm>
        <a:graphic>
          <a:graphicData uri="http://schemas.openxmlformats.org/drawingml/2006/table">
            <a:tbl>
              <a:tblPr/>
              <a:tblGrid>
                <a:gridCol w="1458579">
                  <a:extLst>
                    <a:ext uri="{9D8B030D-6E8A-4147-A177-3AD203B41FA5}">
                      <a16:colId xmlns:a16="http://schemas.microsoft.com/office/drawing/2014/main" val="1043500368"/>
                    </a:ext>
                  </a:extLst>
                </a:gridCol>
                <a:gridCol w="2976693">
                  <a:extLst>
                    <a:ext uri="{9D8B030D-6E8A-4147-A177-3AD203B41FA5}">
                      <a16:colId xmlns:a16="http://schemas.microsoft.com/office/drawing/2014/main" val="3692062406"/>
                    </a:ext>
                  </a:extLst>
                </a:gridCol>
                <a:gridCol w="1726481">
                  <a:extLst>
                    <a:ext uri="{9D8B030D-6E8A-4147-A177-3AD203B41FA5}">
                      <a16:colId xmlns:a16="http://schemas.microsoft.com/office/drawing/2014/main" val="3612221500"/>
                    </a:ext>
                  </a:extLst>
                </a:gridCol>
              </a:tblGrid>
              <a:tr h="547643">
                <a:tc>
                  <a:txBody>
                    <a:bodyPr/>
                    <a:lstStyle/>
                    <a:p>
                      <a:pPr algn="ctr" fontAlgn="b"/>
                      <a:r>
                        <a:rPr lang="en-IN" sz="1800" b="1" i="0" u="none" strike="noStrike">
                          <a:solidFill>
                            <a:srgbClr val="FFFFFF"/>
                          </a:solidFill>
                          <a:effectLst/>
                          <a:latin typeface="Calibri" panose="020F0502020204030204" pitchFamily="34" charset="0"/>
                        </a:rPr>
                        <a:t>Branch</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800" b="1" i="0" u="none" strike="noStrike" dirty="0" err="1">
                          <a:solidFill>
                            <a:srgbClr val="FFFFFF"/>
                          </a:solidFill>
                          <a:effectLst/>
                          <a:latin typeface="Calibri" panose="020F0502020204030204" pitchFamily="34" charset="0"/>
                        </a:rPr>
                        <a:t>Product_line</a:t>
                      </a:r>
                      <a:endParaRPr lang="en-IN" sz="1800" b="1" i="0" u="none" strike="noStrike" dirty="0">
                        <a:solidFill>
                          <a:srgbClr val="FFFFFF"/>
                        </a:solidFill>
                        <a:effectLst/>
                        <a:latin typeface="Calibri" panose="020F0502020204030204" pitchFamily="34" charset="0"/>
                      </a:endParaRP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800" b="1" i="0" u="none" strike="noStrike" dirty="0">
                          <a:solidFill>
                            <a:srgbClr val="FFFFFF"/>
                          </a:solidFill>
                          <a:effectLst/>
                          <a:latin typeface="Calibri" panose="020F0502020204030204" pitchFamily="34" charset="0"/>
                        </a:rPr>
                        <a:t>profit</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3243322335"/>
                  </a:ext>
                </a:extLst>
              </a:tr>
              <a:tr h="547643">
                <a:tc>
                  <a:txBody>
                    <a:bodyPr/>
                    <a:lstStyle/>
                    <a:p>
                      <a:pPr algn="ctr" fontAlgn="b"/>
                      <a:r>
                        <a:rPr lang="en-IN" sz="1800" b="0" i="0" u="none" strike="noStrike">
                          <a:solidFill>
                            <a:srgbClr val="000000"/>
                          </a:solidFill>
                          <a:effectLst/>
                          <a:latin typeface="Calibri" panose="020F0502020204030204" pitchFamily="34" charset="0"/>
                        </a:rPr>
                        <a:t>A</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Home and lifestyle</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20282.2245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016302289"/>
                  </a:ext>
                </a:extLst>
              </a:tr>
              <a:tr h="547643">
                <a:tc>
                  <a:txBody>
                    <a:bodyPr/>
                    <a:lstStyle/>
                    <a:p>
                      <a:pPr algn="ctr" fontAlgn="b"/>
                      <a:r>
                        <a:rPr lang="en-IN" sz="1800" b="0" i="0" u="none" strike="noStrike">
                          <a:solidFill>
                            <a:srgbClr val="000000"/>
                          </a:solidFill>
                          <a:effectLst/>
                          <a:latin typeface="Calibri" panose="020F0502020204030204" pitchFamily="34" charset="0"/>
                        </a:rPr>
                        <a:t>B</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Sports and travel</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18084.561</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03386901"/>
                  </a:ext>
                </a:extLst>
              </a:tr>
              <a:tr h="547643">
                <a:tc>
                  <a:txBody>
                    <a:bodyPr/>
                    <a:lstStyle/>
                    <a:p>
                      <a:pPr algn="ctr" fontAlgn="b"/>
                      <a:r>
                        <a:rPr lang="en-IN" sz="1800" b="0" i="0" u="none" strike="noStrike">
                          <a:solidFill>
                            <a:srgbClr val="000000"/>
                          </a:solidFill>
                          <a:effectLst/>
                          <a:latin typeface="Calibri" panose="020F0502020204030204" pitchFamily="34" charset="0"/>
                        </a:rPr>
                        <a:t>C</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Food and beverages</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dirty="0">
                          <a:solidFill>
                            <a:srgbClr val="000000"/>
                          </a:solidFill>
                          <a:effectLst/>
                          <a:latin typeface="Calibri" panose="020F0502020204030204" pitchFamily="34" charset="0"/>
                        </a:rPr>
                        <a:t>21503.345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268077864"/>
                  </a:ext>
                </a:extLst>
              </a:tr>
            </a:tbl>
          </a:graphicData>
        </a:graphic>
      </p:graphicFrame>
      <p:sp>
        <p:nvSpPr>
          <p:cNvPr id="3" name="Title 1">
            <a:extLst>
              <a:ext uri="{FF2B5EF4-FFF2-40B4-BE49-F238E27FC236}">
                <a16:creationId xmlns:a16="http://schemas.microsoft.com/office/drawing/2014/main" id="{AEE60672-27BF-9BB6-F297-1EDE2C5398BB}"/>
              </a:ext>
            </a:extLst>
          </p:cNvPr>
          <p:cNvSpPr>
            <a:spLocks noGrp="1"/>
          </p:cNvSpPr>
          <p:nvPr>
            <p:ph type="title"/>
          </p:nvPr>
        </p:nvSpPr>
        <p:spPr>
          <a:xfrm>
            <a:off x="838200" y="261682"/>
            <a:ext cx="10515600" cy="623222"/>
          </a:xfrm>
        </p:spPr>
        <p:txBody>
          <a:bodyPr/>
          <a:lstStyle/>
          <a:p>
            <a:pPr algn="ctr"/>
            <a:r>
              <a:rPr lang="en-IN" dirty="0"/>
              <a:t>VISUAL REPRESENTATION</a:t>
            </a:r>
          </a:p>
        </p:txBody>
      </p:sp>
    </p:spTree>
    <p:extLst>
      <p:ext uri="{BB962C8B-B14F-4D97-AF65-F5344CB8AC3E}">
        <p14:creationId xmlns:p14="http://schemas.microsoft.com/office/powerpoint/2010/main" val="1502661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0AC6-4447-53BF-124E-5A19278EC53A}"/>
              </a:ext>
            </a:extLst>
          </p:cNvPr>
          <p:cNvSpPr>
            <a:spLocks noGrp="1"/>
          </p:cNvSpPr>
          <p:nvPr>
            <p:ph type="title"/>
          </p:nvPr>
        </p:nvSpPr>
        <p:spPr>
          <a:xfrm>
            <a:off x="280219" y="0"/>
            <a:ext cx="11073581" cy="1035972"/>
          </a:xfrm>
        </p:spPr>
        <p:txBody>
          <a:bodyPr>
            <a:normAutofit/>
          </a:bodyPr>
          <a:lstStyle/>
          <a:p>
            <a:r>
              <a:rPr lang="en-US" sz="3200" dirty="0"/>
              <a:t>Task 3: Analyzing Customer Segmentation Based on Spending </a:t>
            </a:r>
            <a:endParaRPr lang="en-IN" sz="3200" dirty="0"/>
          </a:p>
        </p:txBody>
      </p:sp>
      <p:sp>
        <p:nvSpPr>
          <p:cNvPr id="3" name="Content Placeholder 2">
            <a:extLst>
              <a:ext uri="{FF2B5EF4-FFF2-40B4-BE49-F238E27FC236}">
                <a16:creationId xmlns:a16="http://schemas.microsoft.com/office/drawing/2014/main" id="{71E6F0BC-3691-ACAC-ECC3-795A7CD3E757}"/>
              </a:ext>
            </a:extLst>
          </p:cNvPr>
          <p:cNvSpPr>
            <a:spLocks noGrp="1"/>
          </p:cNvSpPr>
          <p:nvPr>
            <p:ph idx="1"/>
          </p:nvPr>
        </p:nvSpPr>
        <p:spPr/>
        <p:txBody>
          <a:bodyPr>
            <a:normAutofit fontScale="77500" lnSpcReduction="20000"/>
          </a:bodyPr>
          <a:lstStyle/>
          <a:p>
            <a:pPr marL="0" indent="0">
              <a:buNone/>
            </a:pPr>
            <a:r>
              <a:rPr lang="en-US" dirty="0"/>
              <a:t>select </a:t>
            </a:r>
            <a:r>
              <a:rPr lang="en-US" dirty="0" err="1"/>
              <a:t>Customer_ID</a:t>
            </a:r>
            <a:r>
              <a:rPr lang="en-US" dirty="0"/>
              <a:t>,</a:t>
            </a:r>
          </a:p>
          <a:p>
            <a:pPr marL="0" indent="0">
              <a:buNone/>
            </a:pPr>
            <a:r>
              <a:rPr lang="en-US" dirty="0"/>
              <a:t>       sum(Total) as </a:t>
            </a:r>
            <a:r>
              <a:rPr lang="en-US" dirty="0" err="1"/>
              <a:t>Total_sales</a:t>
            </a:r>
            <a:r>
              <a:rPr lang="en-US" dirty="0"/>
              <a:t>,</a:t>
            </a:r>
          </a:p>
          <a:p>
            <a:pPr marL="0" indent="0">
              <a:buNone/>
            </a:pPr>
            <a:r>
              <a:rPr lang="en-US" dirty="0"/>
              <a:t>       avg(Total) as </a:t>
            </a:r>
            <a:r>
              <a:rPr lang="en-US" dirty="0" err="1"/>
              <a:t>Avg_sales</a:t>
            </a:r>
            <a:r>
              <a:rPr lang="en-US" dirty="0"/>
              <a:t>,</a:t>
            </a:r>
          </a:p>
          <a:p>
            <a:pPr marL="0" indent="0">
              <a:buNone/>
            </a:pPr>
            <a:r>
              <a:rPr lang="en-US" dirty="0"/>
              <a:t>       case</a:t>
            </a:r>
          </a:p>
          <a:p>
            <a:pPr marL="0" indent="0">
              <a:buNone/>
            </a:pPr>
            <a:r>
              <a:rPr lang="en-US" dirty="0"/>
              <a:t>           when sum(Total) &gt; 25000 then "High"</a:t>
            </a:r>
          </a:p>
          <a:p>
            <a:pPr marL="0" indent="0">
              <a:buNone/>
            </a:pPr>
            <a:r>
              <a:rPr lang="en-US" dirty="0"/>
              <a:t>           when sum(Total) &gt; 20000 then "Medium"</a:t>
            </a:r>
          </a:p>
          <a:p>
            <a:pPr marL="0" indent="0">
              <a:buNone/>
            </a:pPr>
            <a:r>
              <a:rPr lang="en-US" dirty="0"/>
              <a:t>           else "low"</a:t>
            </a:r>
          </a:p>
          <a:p>
            <a:pPr marL="0" indent="0">
              <a:buNone/>
            </a:pPr>
            <a:r>
              <a:rPr lang="en-US" dirty="0"/>
              <a:t>		end as </a:t>
            </a:r>
            <a:r>
              <a:rPr lang="en-US" dirty="0" err="1"/>
              <a:t>Spendingtier</a:t>
            </a:r>
            <a:endParaRPr lang="en-US" dirty="0"/>
          </a:p>
          <a:p>
            <a:pPr marL="0" indent="0">
              <a:buNone/>
            </a:pPr>
            <a:r>
              <a:rPr lang="en-US" dirty="0"/>
              <a:t>	</a:t>
            </a:r>
          </a:p>
          <a:p>
            <a:pPr marL="0" indent="0">
              <a:buNone/>
            </a:pPr>
            <a:r>
              <a:rPr lang="en-US" dirty="0"/>
              <a:t>from </a:t>
            </a:r>
            <a:r>
              <a:rPr lang="en-US" dirty="0" err="1"/>
              <a:t>walmartsales</a:t>
            </a:r>
            <a:endParaRPr lang="en-US" dirty="0"/>
          </a:p>
          <a:p>
            <a:pPr marL="0" indent="0">
              <a:buNone/>
            </a:pPr>
            <a:r>
              <a:rPr lang="en-US" dirty="0"/>
              <a:t>group by </a:t>
            </a:r>
            <a:r>
              <a:rPr lang="en-US" dirty="0" err="1"/>
              <a:t>Customer_ID</a:t>
            </a:r>
            <a:endParaRPr lang="en-US" dirty="0"/>
          </a:p>
          <a:p>
            <a:pPr marL="0" indent="0">
              <a:buNone/>
            </a:pPr>
            <a:r>
              <a:rPr lang="en-US" dirty="0"/>
              <a:t>order by </a:t>
            </a:r>
            <a:r>
              <a:rPr lang="en-US" dirty="0" err="1"/>
              <a:t>Customer_ID</a:t>
            </a:r>
            <a:r>
              <a:rPr lang="en-US" dirty="0"/>
              <a:t>;</a:t>
            </a:r>
            <a:endParaRPr lang="en-IN" dirty="0"/>
          </a:p>
        </p:txBody>
      </p:sp>
      <p:sp>
        <p:nvSpPr>
          <p:cNvPr id="4" name="TextBox 3">
            <a:extLst>
              <a:ext uri="{FF2B5EF4-FFF2-40B4-BE49-F238E27FC236}">
                <a16:creationId xmlns:a16="http://schemas.microsoft.com/office/drawing/2014/main" id="{232F2A9F-1E71-FACA-8D36-229822DD1FD5}"/>
              </a:ext>
            </a:extLst>
          </p:cNvPr>
          <p:cNvSpPr txBox="1"/>
          <p:nvPr/>
        </p:nvSpPr>
        <p:spPr>
          <a:xfrm>
            <a:off x="5466735" y="1009643"/>
            <a:ext cx="1656736" cy="461665"/>
          </a:xfrm>
          <a:prstGeom prst="rect">
            <a:avLst/>
          </a:prstGeom>
          <a:noFill/>
        </p:spPr>
        <p:txBody>
          <a:bodyPr wrap="square" rtlCol="0">
            <a:spAutoFit/>
          </a:bodyPr>
          <a:lstStyle/>
          <a:p>
            <a:r>
              <a:rPr lang="en-IN" sz="2400" b="1" dirty="0">
                <a:solidFill>
                  <a:schemeClr val="accent1">
                    <a:lumMod val="50000"/>
                  </a:schemeClr>
                </a:solidFill>
              </a:rPr>
              <a:t>Query:-</a:t>
            </a:r>
          </a:p>
        </p:txBody>
      </p:sp>
    </p:spTree>
    <p:extLst>
      <p:ext uri="{BB962C8B-B14F-4D97-AF65-F5344CB8AC3E}">
        <p14:creationId xmlns:p14="http://schemas.microsoft.com/office/powerpoint/2010/main" val="3139497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7294D7-FB4C-BCA0-BB4F-88B625D77D01}"/>
              </a:ext>
            </a:extLst>
          </p:cNvPr>
          <p:cNvSpPr>
            <a:spLocks noGrp="1"/>
          </p:cNvSpPr>
          <p:nvPr>
            <p:ph type="title"/>
          </p:nvPr>
        </p:nvSpPr>
        <p:spPr>
          <a:xfrm>
            <a:off x="838200" y="187940"/>
            <a:ext cx="10515600" cy="623222"/>
          </a:xfrm>
        </p:spPr>
        <p:txBody>
          <a:bodyPr/>
          <a:lstStyle/>
          <a:p>
            <a:pPr algn="ctr"/>
            <a:r>
              <a:rPr lang="en-IN" dirty="0"/>
              <a:t>VISUAL REPRESENTATION</a:t>
            </a:r>
          </a:p>
        </p:txBody>
      </p:sp>
      <p:graphicFrame>
        <p:nvGraphicFramePr>
          <p:cNvPr id="5" name="Table 4">
            <a:extLst>
              <a:ext uri="{FF2B5EF4-FFF2-40B4-BE49-F238E27FC236}">
                <a16:creationId xmlns:a16="http://schemas.microsoft.com/office/drawing/2014/main" id="{A531E27F-2246-ED40-159B-4CC2B45B5D59}"/>
              </a:ext>
            </a:extLst>
          </p:cNvPr>
          <p:cNvGraphicFramePr>
            <a:graphicFrameLocks noGrp="1"/>
          </p:cNvGraphicFramePr>
          <p:nvPr>
            <p:extLst>
              <p:ext uri="{D42A27DB-BD31-4B8C-83A1-F6EECF244321}">
                <p14:modId xmlns:p14="http://schemas.microsoft.com/office/powerpoint/2010/main" val="2461894979"/>
              </p:ext>
            </p:extLst>
          </p:nvPr>
        </p:nvGraphicFramePr>
        <p:xfrm>
          <a:off x="133554" y="1002454"/>
          <a:ext cx="5962446" cy="5560576"/>
        </p:xfrm>
        <a:graphic>
          <a:graphicData uri="http://schemas.openxmlformats.org/drawingml/2006/table">
            <a:tbl>
              <a:tblPr/>
              <a:tblGrid>
                <a:gridCol w="1613737">
                  <a:extLst>
                    <a:ext uri="{9D8B030D-6E8A-4147-A177-3AD203B41FA5}">
                      <a16:colId xmlns:a16="http://schemas.microsoft.com/office/drawing/2014/main" val="1710825210"/>
                    </a:ext>
                  </a:extLst>
                </a:gridCol>
                <a:gridCol w="1430359">
                  <a:extLst>
                    <a:ext uri="{9D8B030D-6E8A-4147-A177-3AD203B41FA5}">
                      <a16:colId xmlns:a16="http://schemas.microsoft.com/office/drawing/2014/main" val="1742584003"/>
                    </a:ext>
                  </a:extLst>
                </a:gridCol>
                <a:gridCol w="1304613">
                  <a:extLst>
                    <a:ext uri="{9D8B030D-6E8A-4147-A177-3AD203B41FA5}">
                      <a16:colId xmlns:a16="http://schemas.microsoft.com/office/drawing/2014/main" val="2918418648"/>
                    </a:ext>
                  </a:extLst>
                </a:gridCol>
                <a:gridCol w="1613737">
                  <a:extLst>
                    <a:ext uri="{9D8B030D-6E8A-4147-A177-3AD203B41FA5}">
                      <a16:colId xmlns:a16="http://schemas.microsoft.com/office/drawing/2014/main" val="3543676613"/>
                    </a:ext>
                  </a:extLst>
                </a:gridCol>
              </a:tblGrid>
              <a:tr h="347536">
                <a:tc>
                  <a:txBody>
                    <a:bodyPr/>
                    <a:lstStyle/>
                    <a:p>
                      <a:pPr algn="ctr" fontAlgn="b"/>
                      <a:r>
                        <a:rPr lang="en-IN" sz="1600" b="1" i="0" u="none" strike="noStrike">
                          <a:solidFill>
                            <a:srgbClr val="FFFFFF"/>
                          </a:solidFill>
                          <a:effectLst/>
                          <a:latin typeface="Calibri" panose="020F0502020204030204" pitchFamily="34" charset="0"/>
                        </a:rPr>
                        <a:t>Customer_ID</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600" b="1" i="0" u="none" strike="noStrike">
                          <a:solidFill>
                            <a:srgbClr val="FFFFFF"/>
                          </a:solidFill>
                          <a:effectLst/>
                          <a:latin typeface="Calibri" panose="020F0502020204030204" pitchFamily="34" charset="0"/>
                        </a:rPr>
                        <a:t>Total_sales</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600" b="1" i="0" u="none" strike="noStrike">
                          <a:solidFill>
                            <a:srgbClr val="FFFFFF"/>
                          </a:solidFill>
                          <a:effectLst/>
                          <a:latin typeface="Calibri" panose="020F0502020204030204" pitchFamily="34" charset="0"/>
                        </a:rPr>
                        <a:t>Avg_sales</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600" b="1" i="0" u="none" strike="noStrike">
                          <a:solidFill>
                            <a:srgbClr val="FFFFFF"/>
                          </a:solidFill>
                          <a:effectLst/>
                          <a:latin typeface="Calibri" panose="020F0502020204030204" pitchFamily="34" charset="0"/>
                        </a:rPr>
                        <a:t>Spendingtier</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2193789859"/>
                  </a:ext>
                </a:extLst>
              </a:tr>
              <a:tr h="347536">
                <a:tc>
                  <a:txBody>
                    <a:bodyPr/>
                    <a:lstStyle/>
                    <a:p>
                      <a:pPr algn="ctr" fontAlgn="b"/>
                      <a:r>
                        <a:rPr lang="en-IN" sz="16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22634.5455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337.8290373</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897243781"/>
                  </a:ext>
                </a:extLst>
              </a:tr>
              <a:tr h="347536">
                <a:tc>
                  <a:txBody>
                    <a:bodyPr/>
                    <a:lstStyle/>
                    <a:p>
                      <a:pPr algn="ctr" fontAlgn="b"/>
                      <a:r>
                        <a:rPr lang="en-IN" sz="16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23392.278</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349.1384776</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387038574"/>
                  </a:ext>
                </a:extLst>
              </a:tr>
              <a:tr h="347536">
                <a:tc>
                  <a:txBody>
                    <a:bodyPr/>
                    <a:lstStyle/>
                    <a:p>
                      <a:pPr algn="ctr" fontAlgn="b"/>
                      <a:r>
                        <a:rPr lang="en-IN" sz="1600" b="0" i="0" u="none" strike="noStrike">
                          <a:solidFill>
                            <a:srgbClr val="000000"/>
                          </a:solidFill>
                          <a:effectLst/>
                          <a:latin typeface="Calibri" panose="020F0502020204030204" pitchFamily="34" charset="0"/>
                        </a:rPr>
                        <a:t>3</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23402.2635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349.2875149</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168300843"/>
                  </a:ext>
                </a:extLst>
              </a:tr>
              <a:tr h="347536">
                <a:tc>
                  <a:txBody>
                    <a:bodyPr/>
                    <a:lstStyle/>
                    <a:p>
                      <a:pPr algn="ctr" fontAlgn="b"/>
                      <a:r>
                        <a:rPr lang="en-IN" sz="1600" b="0" i="0" u="none" strike="noStrike">
                          <a:solidFill>
                            <a:srgbClr val="000000"/>
                          </a:solidFill>
                          <a:effectLst/>
                          <a:latin typeface="Calibri" panose="020F0502020204030204" pitchFamily="34" charset="0"/>
                        </a:rPr>
                        <a:t>4</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17656.716</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263.5330746</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low</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971284817"/>
                  </a:ext>
                </a:extLst>
              </a:tr>
              <a:tr h="347536">
                <a:tc>
                  <a:txBody>
                    <a:bodyPr/>
                    <a:lstStyle/>
                    <a:p>
                      <a:pPr algn="ctr" fontAlgn="b"/>
                      <a:r>
                        <a:rPr lang="en-IN" sz="1600" b="0" i="0" u="none" strike="noStrike">
                          <a:solidFill>
                            <a:srgbClr val="000000"/>
                          </a:solidFill>
                          <a:effectLst/>
                          <a:latin typeface="Calibri" panose="020F0502020204030204" pitchFamily="34" charset="0"/>
                        </a:rPr>
                        <a:t>5</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19632.039</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293.0155075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low</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245966635"/>
                  </a:ext>
                </a:extLst>
              </a:tr>
              <a:tr h="347536">
                <a:tc>
                  <a:txBody>
                    <a:bodyPr/>
                    <a:lstStyle/>
                    <a:p>
                      <a:pPr algn="ctr" fontAlgn="b"/>
                      <a:r>
                        <a:rPr lang="en-IN" sz="1600" b="0" i="0" u="none" strike="noStrike">
                          <a:solidFill>
                            <a:srgbClr val="000000"/>
                          </a:solidFill>
                          <a:effectLst/>
                          <a:latin typeface="Calibri" panose="020F0502020204030204" pitchFamily="34" charset="0"/>
                        </a:rPr>
                        <a:t>6</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20693.9565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308.8650224</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4206786152"/>
                  </a:ext>
                </a:extLst>
              </a:tr>
              <a:tr h="347536">
                <a:tc>
                  <a:txBody>
                    <a:bodyPr/>
                    <a:lstStyle/>
                    <a:p>
                      <a:pPr algn="ctr" fontAlgn="b"/>
                      <a:r>
                        <a:rPr lang="en-IN" sz="1600" b="0" i="0" u="none" strike="noStrike">
                          <a:solidFill>
                            <a:srgbClr val="000000"/>
                          </a:solidFill>
                          <a:effectLst/>
                          <a:latin typeface="Calibri" panose="020F0502020204030204" pitchFamily="34" charset="0"/>
                        </a:rPr>
                        <a:t>7</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20628.09</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307.8819403</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968362901"/>
                  </a:ext>
                </a:extLst>
              </a:tr>
              <a:tr h="347536">
                <a:tc>
                  <a:txBody>
                    <a:bodyPr/>
                    <a:lstStyle/>
                    <a:p>
                      <a:pPr algn="ctr" fontAlgn="b"/>
                      <a:r>
                        <a:rPr lang="en-IN" sz="1600" b="0" i="0" u="none" strike="noStrike">
                          <a:solidFill>
                            <a:srgbClr val="000000"/>
                          </a:solidFill>
                          <a:effectLst/>
                          <a:latin typeface="Calibri" panose="020F0502020204030204" pitchFamily="34" charset="0"/>
                        </a:rPr>
                        <a:t>8</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26634.342</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397.5274925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High</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512291709"/>
                  </a:ext>
                </a:extLst>
              </a:tr>
              <a:tr h="347536">
                <a:tc>
                  <a:txBody>
                    <a:bodyPr/>
                    <a:lstStyle/>
                    <a:p>
                      <a:pPr algn="ctr" fontAlgn="b"/>
                      <a:r>
                        <a:rPr lang="en-IN" sz="1600" b="0" i="0" u="none" strike="noStrike">
                          <a:solidFill>
                            <a:srgbClr val="000000"/>
                          </a:solidFill>
                          <a:effectLst/>
                          <a:latin typeface="Calibri" panose="020F0502020204030204" pitchFamily="34" charset="0"/>
                        </a:rPr>
                        <a:t>9</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19661.5965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293.4566642</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low</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60253106"/>
                  </a:ext>
                </a:extLst>
              </a:tr>
              <a:tr h="347536">
                <a:tc>
                  <a:txBody>
                    <a:bodyPr/>
                    <a:lstStyle/>
                    <a:p>
                      <a:pPr algn="ctr" fontAlgn="b"/>
                      <a:r>
                        <a:rPr lang="en-IN" sz="1600" b="0" i="0" u="none" strike="noStrike">
                          <a:solidFill>
                            <a:srgbClr val="000000"/>
                          </a:solidFill>
                          <a:effectLst/>
                          <a:latin typeface="Calibri" panose="020F0502020204030204" pitchFamily="34" charset="0"/>
                        </a:rPr>
                        <a:t>10</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20723.934</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309.3124478</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227453658"/>
                  </a:ext>
                </a:extLst>
              </a:tr>
              <a:tr h="347536">
                <a:tc>
                  <a:txBody>
                    <a:bodyPr/>
                    <a:lstStyle/>
                    <a:p>
                      <a:pPr algn="ctr" fontAlgn="b"/>
                      <a:r>
                        <a:rPr lang="en-IN" sz="1600" b="0" i="0" u="none" strike="noStrike">
                          <a:solidFill>
                            <a:srgbClr val="000000"/>
                          </a:solidFill>
                          <a:effectLst/>
                          <a:latin typeface="Calibri" panose="020F0502020204030204" pitchFamily="34" charset="0"/>
                        </a:rPr>
                        <a:t>11</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21398.8215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324.2245682</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936815602"/>
                  </a:ext>
                </a:extLst>
              </a:tr>
              <a:tr h="347536">
                <a:tc>
                  <a:txBody>
                    <a:bodyPr/>
                    <a:lstStyle/>
                    <a:p>
                      <a:pPr algn="ctr" fontAlgn="b"/>
                      <a:r>
                        <a:rPr lang="en-IN" sz="1600" b="0" i="0" u="none" strike="noStrike">
                          <a:solidFill>
                            <a:srgbClr val="000000"/>
                          </a:solidFill>
                          <a:effectLst/>
                          <a:latin typeface="Calibri" panose="020F0502020204030204" pitchFamily="34" charset="0"/>
                        </a:rPr>
                        <a:t>12</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21720.6465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329.1007045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4131943743"/>
                  </a:ext>
                </a:extLst>
              </a:tr>
              <a:tr h="347536">
                <a:tc>
                  <a:txBody>
                    <a:bodyPr/>
                    <a:lstStyle/>
                    <a:p>
                      <a:pPr algn="ctr" fontAlgn="b"/>
                      <a:r>
                        <a:rPr lang="en-IN" sz="1600" b="0" i="0" u="none" strike="noStrike">
                          <a:solidFill>
                            <a:srgbClr val="000000"/>
                          </a:solidFill>
                          <a:effectLst/>
                          <a:latin typeface="Calibri" panose="020F0502020204030204" pitchFamily="34" charset="0"/>
                        </a:rPr>
                        <a:t>13</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21063.6615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319.1463864</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695339252"/>
                  </a:ext>
                </a:extLst>
              </a:tr>
              <a:tr h="347536">
                <a:tc>
                  <a:txBody>
                    <a:bodyPr/>
                    <a:lstStyle/>
                    <a:p>
                      <a:pPr algn="ctr" fontAlgn="b"/>
                      <a:r>
                        <a:rPr lang="en-IN" sz="1600" b="0" i="0" u="none" strike="noStrike">
                          <a:solidFill>
                            <a:srgbClr val="000000"/>
                          </a:solidFill>
                          <a:effectLst/>
                          <a:latin typeface="Calibri" panose="020F0502020204030204" pitchFamily="34" charset="0"/>
                        </a:rPr>
                        <a:t>14</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21049.4025</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318.9303409</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405765095"/>
                  </a:ext>
                </a:extLst>
              </a:tr>
              <a:tr h="347536">
                <a:tc>
                  <a:txBody>
                    <a:bodyPr/>
                    <a:lstStyle/>
                    <a:p>
                      <a:pPr algn="ctr" fontAlgn="b"/>
                      <a:r>
                        <a:rPr lang="en-IN" sz="1600" b="0" i="0" u="none" strike="noStrike">
                          <a:solidFill>
                            <a:srgbClr val="000000"/>
                          </a:solidFill>
                          <a:effectLst/>
                          <a:latin typeface="Calibri" panose="020F0502020204030204" pitchFamily="34" charset="0"/>
                        </a:rPr>
                        <a:t>15</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22674.456</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343.5523636</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dirty="0">
                          <a:solidFill>
                            <a:srgbClr val="000000"/>
                          </a:solidFill>
                          <a:effectLst/>
                          <a:latin typeface="Calibri" panose="020F0502020204030204" pitchFamily="34" charset="0"/>
                        </a:rPr>
                        <a:t>Medium</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147249376"/>
                  </a:ext>
                </a:extLst>
              </a:tr>
            </a:tbl>
          </a:graphicData>
        </a:graphic>
      </p:graphicFrame>
      <p:graphicFrame>
        <p:nvGraphicFramePr>
          <p:cNvPr id="8" name="Chart 7">
            <a:extLst>
              <a:ext uri="{FF2B5EF4-FFF2-40B4-BE49-F238E27FC236}">
                <a16:creationId xmlns:a16="http://schemas.microsoft.com/office/drawing/2014/main" id="{B9AB3CA7-4997-4AAE-2709-F2994EB67CE4}"/>
              </a:ext>
            </a:extLst>
          </p:cNvPr>
          <p:cNvGraphicFramePr/>
          <p:nvPr>
            <p:extLst>
              <p:ext uri="{D42A27DB-BD31-4B8C-83A1-F6EECF244321}">
                <p14:modId xmlns:p14="http://schemas.microsoft.com/office/powerpoint/2010/main" val="3931108241"/>
              </p:ext>
            </p:extLst>
          </p:nvPr>
        </p:nvGraphicFramePr>
        <p:xfrm>
          <a:off x="6445044" y="1002454"/>
          <a:ext cx="5445433" cy="510337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43472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18A9D-04DB-101E-0FE4-50275066A9D9}"/>
              </a:ext>
            </a:extLst>
          </p:cNvPr>
          <p:cNvSpPr>
            <a:spLocks noGrp="1"/>
          </p:cNvSpPr>
          <p:nvPr>
            <p:ph type="title"/>
          </p:nvPr>
        </p:nvSpPr>
        <p:spPr>
          <a:xfrm>
            <a:off x="457200" y="18255"/>
            <a:ext cx="11014587" cy="1325563"/>
          </a:xfrm>
        </p:spPr>
        <p:txBody>
          <a:bodyPr>
            <a:normAutofit/>
          </a:bodyPr>
          <a:lstStyle/>
          <a:p>
            <a:r>
              <a:rPr lang="en-US" sz="3200" dirty="0"/>
              <a:t>Task 4: Detecting Anomalies in Sales Transactions</a:t>
            </a:r>
            <a:endParaRPr lang="en-IN" sz="3200" dirty="0"/>
          </a:p>
        </p:txBody>
      </p:sp>
      <p:sp>
        <p:nvSpPr>
          <p:cNvPr id="3" name="Content Placeholder 2">
            <a:extLst>
              <a:ext uri="{FF2B5EF4-FFF2-40B4-BE49-F238E27FC236}">
                <a16:creationId xmlns:a16="http://schemas.microsoft.com/office/drawing/2014/main" id="{60B16DC1-B4CB-5979-814F-56EA7B8C5E23}"/>
              </a:ext>
            </a:extLst>
          </p:cNvPr>
          <p:cNvSpPr>
            <a:spLocks noGrp="1"/>
          </p:cNvSpPr>
          <p:nvPr>
            <p:ph idx="1"/>
          </p:nvPr>
        </p:nvSpPr>
        <p:spPr>
          <a:xfrm>
            <a:off x="457200" y="1504335"/>
            <a:ext cx="10896600" cy="4672628"/>
          </a:xfrm>
        </p:spPr>
        <p:txBody>
          <a:bodyPr>
            <a:normAutofit fontScale="92500" lnSpcReduction="10000"/>
          </a:bodyPr>
          <a:lstStyle/>
          <a:p>
            <a:pPr marL="0" indent="0">
              <a:buNone/>
            </a:pPr>
            <a:r>
              <a:rPr lang="en-IN" dirty="0"/>
              <a:t>select * from </a:t>
            </a:r>
            <a:r>
              <a:rPr lang="en-IN" dirty="0" err="1"/>
              <a:t>walmartsales</a:t>
            </a:r>
            <a:r>
              <a:rPr lang="en-IN" dirty="0"/>
              <a:t> as sales</a:t>
            </a:r>
          </a:p>
          <a:p>
            <a:pPr marL="0" indent="0">
              <a:buNone/>
            </a:pPr>
            <a:r>
              <a:rPr lang="en-IN" dirty="0"/>
              <a:t>join (</a:t>
            </a:r>
          </a:p>
          <a:p>
            <a:pPr marL="0" indent="0">
              <a:buNone/>
            </a:pPr>
            <a:r>
              <a:rPr lang="en-IN" dirty="0"/>
              <a:t>	 select </a:t>
            </a:r>
            <a:r>
              <a:rPr lang="en-IN" dirty="0" err="1"/>
              <a:t>Product_line</a:t>
            </a:r>
            <a:r>
              <a:rPr lang="en-IN" dirty="0"/>
              <a:t>,  </a:t>
            </a:r>
            <a:r>
              <a:rPr lang="en-IN" dirty="0" err="1"/>
              <a:t>avg</a:t>
            </a:r>
            <a:r>
              <a:rPr lang="en-IN" dirty="0"/>
              <a:t>(Total) as </a:t>
            </a:r>
            <a:r>
              <a:rPr lang="en-IN" dirty="0" err="1"/>
              <a:t>avg_total</a:t>
            </a:r>
            <a:r>
              <a:rPr lang="en-IN" dirty="0"/>
              <a:t>, </a:t>
            </a:r>
            <a:r>
              <a:rPr lang="en-IN" dirty="0" err="1"/>
              <a:t>stddev</a:t>
            </a:r>
            <a:r>
              <a:rPr lang="en-IN" dirty="0"/>
              <a:t>(Total) as </a:t>
            </a:r>
            <a:r>
              <a:rPr lang="en-IN" dirty="0" err="1"/>
              <a:t>std_dev</a:t>
            </a:r>
            <a:endParaRPr lang="en-IN" dirty="0"/>
          </a:p>
          <a:p>
            <a:pPr marL="0" indent="0">
              <a:buNone/>
            </a:pPr>
            <a:r>
              <a:rPr lang="en-IN" dirty="0"/>
              <a:t>     from </a:t>
            </a:r>
            <a:r>
              <a:rPr lang="en-IN" dirty="0" err="1"/>
              <a:t>walmartsales</a:t>
            </a:r>
            <a:endParaRPr lang="en-IN" dirty="0"/>
          </a:p>
          <a:p>
            <a:pPr marL="0" indent="0">
              <a:buNone/>
            </a:pPr>
            <a:r>
              <a:rPr lang="en-IN" dirty="0"/>
              <a:t>     group by </a:t>
            </a:r>
            <a:r>
              <a:rPr lang="en-IN" dirty="0" err="1"/>
              <a:t>Product_line</a:t>
            </a:r>
            <a:endParaRPr lang="en-IN" dirty="0"/>
          </a:p>
          <a:p>
            <a:pPr marL="0" indent="0">
              <a:buNone/>
            </a:pPr>
            <a:r>
              <a:rPr lang="en-IN" dirty="0"/>
              <a:t>     ) </a:t>
            </a:r>
          </a:p>
          <a:p>
            <a:pPr marL="0" indent="0">
              <a:buNone/>
            </a:pPr>
            <a:r>
              <a:rPr lang="en-IN" dirty="0"/>
              <a:t>as </a:t>
            </a:r>
            <a:r>
              <a:rPr lang="en-IN" dirty="0" err="1"/>
              <a:t>avg_data</a:t>
            </a:r>
            <a:endParaRPr lang="en-IN" dirty="0"/>
          </a:p>
          <a:p>
            <a:pPr marL="0" indent="0">
              <a:buNone/>
            </a:pPr>
            <a:r>
              <a:rPr lang="en-IN" dirty="0"/>
              <a:t>on </a:t>
            </a:r>
            <a:r>
              <a:rPr lang="en-IN" dirty="0" err="1"/>
              <a:t>sales.Product_line</a:t>
            </a:r>
            <a:r>
              <a:rPr lang="en-IN" dirty="0"/>
              <a:t> = </a:t>
            </a:r>
            <a:r>
              <a:rPr lang="en-IN" dirty="0" err="1"/>
              <a:t>avg_data.Product_line</a:t>
            </a:r>
            <a:endParaRPr lang="en-IN" dirty="0"/>
          </a:p>
          <a:p>
            <a:pPr marL="0" indent="0">
              <a:buNone/>
            </a:pPr>
            <a:r>
              <a:rPr lang="en-IN" dirty="0"/>
              <a:t>where </a:t>
            </a:r>
            <a:r>
              <a:rPr lang="en-IN" dirty="0" err="1"/>
              <a:t>sales.Total</a:t>
            </a:r>
            <a:r>
              <a:rPr lang="en-IN" dirty="0"/>
              <a:t> &gt; </a:t>
            </a:r>
            <a:r>
              <a:rPr lang="en-IN" dirty="0" err="1"/>
              <a:t>avg_data.avg_total</a:t>
            </a:r>
            <a:r>
              <a:rPr lang="en-IN" dirty="0"/>
              <a:t> + 2 * </a:t>
            </a:r>
            <a:r>
              <a:rPr lang="en-IN" dirty="0" err="1"/>
              <a:t>avg_data.std_dev</a:t>
            </a:r>
            <a:endParaRPr lang="en-IN" dirty="0"/>
          </a:p>
          <a:p>
            <a:pPr marL="0" indent="0">
              <a:buNone/>
            </a:pPr>
            <a:r>
              <a:rPr lang="en-IN" dirty="0"/>
              <a:t>or </a:t>
            </a:r>
            <a:r>
              <a:rPr lang="en-IN" dirty="0" err="1"/>
              <a:t>sales.Total</a:t>
            </a:r>
            <a:r>
              <a:rPr lang="en-IN" dirty="0"/>
              <a:t> &lt; </a:t>
            </a:r>
            <a:r>
              <a:rPr lang="en-IN" dirty="0" err="1"/>
              <a:t>avg_data.avg_total</a:t>
            </a:r>
            <a:r>
              <a:rPr lang="en-IN" dirty="0"/>
              <a:t> - 2 * </a:t>
            </a:r>
            <a:r>
              <a:rPr lang="en-IN" dirty="0" err="1"/>
              <a:t>avg_data.std_dev</a:t>
            </a:r>
            <a:r>
              <a:rPr lang="en-IN" dirty="0"/>
              <a:t>;</a:t>
            </a:r>
          </a:p>
        </p:txBody>
      </p:sp>
      <p:sp>
        <p:nvSpPr>
          <p:cNvPr id="4" name="TextBox 3">
            <a:extLst>
              <a:ext uri="{FF2B5EF4-FFF2-40B4-BE49-F238E27FC236}">
                <a16:creationId xmlns:a16="http://schemas.microsoft.com/office/drawing/2014/main" id="{E6E89A99-30B6-B08E-D2F5-9C8C76F3AC43}"/>
              </a:ext>
            </a:extLst>
          </p:cNvPr>
          <p:cNvSpPr txBox="1"/>
          <p:nvPr/>
        </p:nvSpPr>
        <p:spPr>
          <a:xfrm>
            <a:off x="5466735" y="1009643"/>
            <a:ext cx="3731342" cy="461665"/>
          </a:xfrm>
          <a:prstGeom prst="rect">
            <a:avLst/>
          </a:prstGeom>
          <a:noFill/>
        </p:spPr>
        <p:txBody>
          <a:bodyPr wrap="square" rtlCol="0">
            <a:spAutoFit/>
          </a:bodyPr>
          <a:lstStyle/>
          <a:p>
            <a:r>
              <a:rPr lang="en-IN" sz="2400" b="1" dirty="0">
                <a:solidFill>
                  <a:schemeClr val="accent1">
                    <a:lumMod val="50000"/>
                  </a:schemeClr>
                </a:solidFill>
              </a:rPr>
              <a:t>Query:-</a:t>
            </a:r>
          </a:p>
        </p:txBody>
      </p:sp>
    </p:spTree>
    <p:extLst>
      <p:ext uri="{BB962C8B-B14F-4D97-AF65-F5344CB8AC3E}">
        <p14:creationId xmlns:p14="http://schemas.microsoft.com/office/powerpoint/2010/main" val="2609858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D9998F7-6807-6353-A79A-47BE9E86A682}"/>
              </a:ext>
            </a:extLst>
          </p:cNvPr>
          <p:cNvGraphicFramePr>
            <a:graphicFrameLocks noGrp="1"/>
          </p:cNvGraphicFramePr>
          <p:nvPr>
            <p:extLst>
              <p:ext uri="{D42A27DB-BD31-4B8C-83A1-F6EECF244321}">
                <p14:modId xmlns:p14="http://schemas.microsoft.com/office/powerpoint/2010/main" val="4102132728"/>
              </p:ext>
            </p:extLst>
          </p:nvPr>
        </p:nvGraphicFramePr>
        <p:xfrm>
          <a:off x="346880" y="1825613"/>
          <a:ext cx="11599309" cy="4914416"/>
        </p:xfrm>
        <a:graphic>
          <a:graphicData uri="http://schemas.openxmlformats.org/drawingml/2006/table">
            <a:tbl>
              <a:tblPr/>
              <a:tblGrid>
                <a:gridCol w="527878">
                  <a:extLst>
                    <a:ext uri="{9D8B030D-6E8A-4147-A177-3AD203B41FA5}">
                      <a16:colId xmlns:a16="http://schemas.microsoft.com/office/drawing/2014/main" val="184438093"/>
                    </a:ext>
                  </a:extLst>
                </a:gridCol>
                <a:gridCol w="391909">
                  <a:extLst>
                    <a:ext uri="{9D8B030D-6E8A-4147-A177-3AD203B41FA5}">
                      <a16:colId xmlns:a16="http://schemas.microsoft.com/office/drawing/2014/main" val="1532977175"/>
                    </a:ext>
                  </a:extLst>
                </a:gridCol>
                <a:gridCol w="439898">
                  <a:extLst>
                    <a:ext uri="{9D8B030D-6E8A-4147-A177-3AD203B41FA5}">
                      <a16:colId xmlns:a16="http://schemas.microsoft.com/office/drawing/2014/main" val="3520049019"/>
                    </a:ext>
                  </a:extLst>
                </a:gridCol>
                <a:gridCol w="713834">
                  <a:extLst>
                    <a:ext uri="{9D8B030D-6E8A-4147-A177-3AD203B41FA5}">
                      <a16:colId xmlns:a16="http://schemas.microsoft.com/office/drawing/2014/main" val="2850841249"/>
                    </a:ext>
                  </a:extLst>
                </a:gridCol>
                <a:gridCol w="423902">
                  <a:extLst>
                    <a:ext uri="{9D8B030D-6E8A-4147-A177-3AD203B41FA5}">
                      <a16:colId xmlns:a16="http://schemas.microsoft.com/office/drawing/2014/main" val="3960542264"/>
                    </a:ext>
                  </a:extLst>
                </a:gridCol>
                <a:gridCol w="857801">
                  <a:extLst>
                    <a:ext uri="{9D8B030D-6E8A-4147-A177-3AD203B41FA5}">
                      <a16:colId xmlns:a16="http://schemas.microsoft.com/office/drawing/2014/main" val="3383709352"/>
                    </a:ext>
                  </a:extLst>
                </a:gridCol>
                <a:gridCol w="527878">
                  <a:extLst>
                    <a:ext uri="{9D8B030D-6E8A-4147-A177-3AD203B41FA5}">
                      <a16:colId xmlns:a16="http://schemas.microsoft.com/office/drawing/2014/main" val="3351939697"/>
                    </a:ext>
                  </a:extLst>
                </a:gridCol>
                <a:gridCol w="463892">
                  <a:extLst>
                    <a:ext uri="{9D8B030D-6E8A-4147-A177-3AD203B41FA5}">
                      <a16:colId xmlns:a16="http://schemas.microsoft.com/office/drawing/2014/main" val="4199253008"/>
                    </a:ext>
                  </a:extLst>
                </a:gridCol>
                <a:gridCol w="687841">
                  <a:extLst>
                    <a:ext uri="{9D8B030D-6E8A-4147-A177-3AD203B41FA5}">
                      <a16:colId xmlns:a16="http://schemas.microsoft.com/office/drawing/2014/main" val="753358177"/>
                    </a:ext>
                  </a:extLst>
                </a:gridCol>
                <a:gridCol w="377913">
                  <a:extLst>
                    <a:ext uri="{9D8B030D-6E8A-4147-A177-3AD203B41FA5}">
                      <a16:colId xmlns:a16="http://schemas.microsoft.com/office/drawing/2014/main" val="2691646363"/>
                    </a:ext>
                  </a:extLst>
                </a:gridCol>
                <a:gridCol w="439898">
                  <a:extLst>
                    <a:ext uri="{9D8B030D-6E8A-4147-A177-3AD203B41FA5}">
                      <a16:colId xmlns:a16="http://schemas.microsoft.com/office/drawing/2014/main" val="4154777157"/>
                    </a:ext>
                  </a:extLst>
                </a:gridCol>
                <a:gridCol w="343920">
                  <a:extLst>
                    <a:ext uri="{9D8B030D-6E8A-4147-A177-3AD203B41FA5}">
                      <a16:colId xmlns:a16="http://schemas.microsoft.com/office/drawing/2014/main" val="1754872064"/>
                    </a:ext>
                  </a:extLst>
                </a:gridCol>
                <a:gridCol w="471890">
                  <a:extLst>
                    <a:ext uri="{9D8B030D-6E8A-4147-A177-3AD203B41FA5}">
                      <a16:colId xmlns:a16="http://schemas.microsoft.com/office/drawing/2014/main" val="992274800"/>
                    </a:ext>
                  </a:extLst>
                </a:gridCol>
                <a:gridCol w="303930">
                  <a:extLst>
                    <a:ext uri="{9D8B030D-6E8A-4147-A177-3AD203B41FA5}">
                      <a16:colId xmlns:a16="http://schemas.microsoft.com/office/drawing/2014/main" val="1243214867"/>
                    </a:ext>
                  </a:extLst>
                </a:gridCol>
                <a:gridCol w="1111741">
                  <a:extLst>
                    <a:ext uri="{9D8B030D-6E8A-4147-A177-3AD203B41FA5}">
                      <a16:colId xmlns:a16="http://schemas.microsoft.com/office/drawing/2014/main" val="4051291443"/>
                    </a:ext>
                  </a:extLst>
                </a:gridCol>
                <a:gridCol w="655848">
                  <a:extLst>
                    <a:ext uri="{9D8B030D-6E8A-4147-A177-3AD203B41FA5}">
                      <a16:colId xmlns:a16="http://schemas.microsoft.com/office/drawing/2014/main" val="1743601043"/>
                    </a:ext>
                  </a:extLst>
                </a:gridCol>
                <a:gridCol w="375913">
                  <a:extLst>
                    <a:ext uri="{9D8B030D-6E8A-4147-A177-3AD203B41FA5}">
                      <a16:colId xmlns:a16="http://schemas.microsoft.com/office/drawing/2014/main" val="1261217353"/>
                    </a:ext>
                  </a:extLst>
                </a:gridCol>
                <a:gridCol w="617856">
                  <a:extLst>
                    <a:ext uri="{9D8B030D-6E8A-4147-A177-3AD203B41FA5}">
                      <a16:colId xmlns:a16="http://schemas.microsoft.com/office/drawing/2014/main" val="255476385"/>
                    </a:ext>
                  </a:extLst>
                </a:gridCol>
                <a:gridCol w="857801">
                  <a:extLst>
                    <a:ext uri="{9D8B030D-6E8A-4147-A177-3AD203B41FA5}">
                      <a16:colId xmlns:a16="http://schemas.microsoft.com/office/drawing/2014/main" val="2467759156"/>
                    </a:ext>
                  </a:extLst>
                </a:gridCol>
                <a:gridCol w="503883">
                  <a:extLst>
                    <a:ext uri="{9D8B030D-6E8A-4147-A177-3AD203B41FA5}">
                      <a16:colId xmlns:a16="http://schemas.microsoft.com/office/drawing/2014/main" val="2019019412"/>
                    </a:ext>
                  </a:extLst>
                </a:gridCol>
                <a:gridCol w="503883">
                  <a:extLst>
                    <a:ext uri="{9D8B030D-6E8A-4147-A177-3AD203B41FA5}">
                      <a16:colId xmlns:a16="http://schemas.microsoft.com/office/drawing/2014/main" val="3691220828"/>
                    </a:ext>
                  </a:extLst>
                </a:gridCol>
              </a:tblGrid>
              <a:tr h="94508">
                <a:tc>
                  <a:txBody>
                    <a:bodyPr/>
                    <a:lstStyle/>
                    <a:p>
                      <a:pPr algn="l" fontAlgn="b"/>
                      <a:r>
                        <a:rPr lang="en-IN" sz="500" b="1" i="0" u="none" strike="noStrike">
                          <a:solidFill>
                            <a:srgbClr val="FFFFFF"/>
                          </a:solidFill>
                          <a:effectLst/>
                          <a:latin typeface="Calibri" panose="020F0502020204030204" pitchFamily="34" charset="0"/>
                        </a:rPr>
                        <a:t>Invoice_ID</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Branch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City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Customer_type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Gender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Product_line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Unit_price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Quantity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Tax_5_percent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Total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Date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Time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Payment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cogs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gross_margin_percentage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gross_income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Rating</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Customer_ID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Product_line_1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avg_total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l" fontAlgn="b"/>
                      <a:r>
                        <a:rPr lang="en-IN" sz="500" b="1" i="0" u="none" strike="noStrike">
                          <a:solidFill>
                            <a:srgbClr val="FFFFFF"/>
                          </a:solidFill>
                          <a:effectLst/>
                          <a:latin typeface="Calibri" panose="020F0502020204030204" pitchFamily="34" charset="0"/>
                        </a:rPr>
                        <a:t>std_dev</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1378269304"/>
                  </a:ext>
                </a:extLst>
              </a:tr>
              <a:tr h="94508">
                <a:tc>
                  <a:txBody>
                    <a:bodyPr/>
                    <a:lstStyle/>
                    <a:p>
                      <a:pPr algn="l" fontAlgn="b"/>
                      <a:r>
                        <a:rPr lang="en-IN" sz="500" b="0" i="0" u="none" strike="noStrike">
                          <a:solidFill>
                            <a:srgbClr val="000000"/>
                          </a:solidFill>
                          <a:effectLst/>
                          <a:latin typeface="Calibri" panose="020F0502020204030204" pitchFamily="34" charset="0"/>
                        </a:rPr>
                        <a:t>450-42-3339</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84.61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42.305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888.405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09-02-2019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18:58:00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846.1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42.305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323.6430197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236.7561479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062665503"/>
                  </a:ext>
                </a:extLst>
              </a:tr>
              <a:tr h="94508">
                <a:tc>
                  <a:txBody>
                    <a:bodyPr/>
                    <a:lstStyle/>
                    <a:p>
                      <a:pPr algn="l" fontAlgn="b"/>
                      <a:r>
                        <a:rPr lang="en-IN" sz="500" b="0" i="0" u="none" strike="noStrike">
                          <a:solidFill>
                            <a:srgbClr val="000000"/>
                          </a:solidFill>
                          <a:effectLst/>
                          <a:latin typeface="Calibri" panose="020F0502020204030204" pitchFamily="34" charset="0"/>
                        </a:rPr>
                        <a:t>699-88-1972</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99.16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39.664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832.944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28-01-2019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17:47:00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793.28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39.664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323.6430197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236.7561479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4039924179"/>
                  </a:ext>
                </a:extLst>
              </a:tr>
              <a:tr h="94508">
                <a:tc>
                  <a:txBody>
                    <a:bodyPr/>
                    <a:lstStyle/>
                    <a:p>
                      <a:pPr algn="l" fontAlgn="b"/>
                      <a:r>
                        <a:rPr lang="en-IN" sz="500" b="0" i="0" u="none" strike="noStrike">
                          <a:solidFill>
                            <a:srgbClr val="000000"/>
                          </a:solidFill>
                          <a:effectLst/>
                          <a:latin typeface="Calibri" panose="020F0502020204030204" pitchFamily="34" charset="0"/>
                        </a:rPr>
                        <a:t>607-65-2441</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81.95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40.975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860.475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12:39:00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819.5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40.975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323.6430197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236.7561479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000902856"/>
                  </a:ext>
                </a:extLst>
              </a:tr>
              <a:tr h="94508">
                <a:tc>
                  <a:txBody>
                    <a:bodyPr/>
                    <a:lstStyle/>
                    <a:p>
                      <a:pPr algn="l" fontAlgn="b"/>
                      <a:r>
                        <a:rPr lang="en-IN" sz="500" b="0" i="0" u="none" strike="noStrike">
                          <a:solidFill>
                            <a:srgbClr val="000000"/>
                          </a:solidFill>
                          <a:effectLst/>
                          <a:latin typeface="Calibri" panose="020F0502020204030204" pitchFamily="34" charset="0"/>
                        </a:rPr>
                        <a:t>628-90-8624</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82.58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41.29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867.09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14-03-2019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14:41:00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825.8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41.29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323.6430197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236.7561479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611036335"/>
                  </a:ext>
                </a:extLst>
              </a:tr>
              <a:tr h="94508">
                <a:tc>
                  <a:txBody>
                    <a:bodyPr/>
                    <a:lstStyle/>
                    <a:p>
                      <a:pPr algn="l" fontAlgn="b"/>
                      <a:r>
                        <a:rPr lang="en-IN" sz="500" b="0" i="0" u="none" strike="noStrike">
                          <a:solidFill>
                            <a:srgbClr val="000000"/>
                          </a:solidFill>
                          <a:effectLst/>
                          <a:latin typeface="Calibri" panose="020F0502020204030204" pitchFamily="34" charset="0"/>
                        </a:rPr>
                        <a:t>743-04-1105</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97.22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43.749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918.729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30-03-2019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14:43:00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874.98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43.749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323.6430197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236.7561479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815124278"/>
                  </a:ext>
                </a:extLst>
              </a:tr>
              <a:tr h="94508">
                <a:tc>
                  <a:txBody>
                    <a:bodyPr/>
                    <a:lstStyle/>
                    <a:p>
                      <a:pPr algn="l" fontAlgn="b"/>
                      <a:r>
                        <a:rPr lang="en-IN" sz="500" b="0" i="0" u="none" strike="noStrike">
                          <a:solidFill>
                            <a:srgbClr val="000000"/>
                          </a:solidFill>
                          <a:effectLst/>
                          <a:latin typeface="Calibri" panose="020F0502020204030204" pitchFamily="34" charset="0"/>
                        </a:rPr>
                        <a:t>280-17-4359</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45.25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950.25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25-01-2019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13:48:00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45.25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323.6430197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236.7561479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438933850"/>
                  </a:ext>
                </a:extLst>
              </a:tr>
              <a:tr h="94508">
                <a:tc>
                  <a:txBody>
                    <a:bodyPr/>
                    <a:lstStyle/>
                    <a:p>
                      <a:pPr algn="l" fontAlgn="b"/>
                      <a:r>
                        <a:rPr lang="en-IN" sz="500" b="0" i="0" u="none" strike="noStrike">
                          <a:solidFill>
                            <a:srgbClr val="000000"/>
                          </a:solidFill>
                          <a:effectLst/>
                          <a:latin typeface="Calibri" panose="020F0502020204030204" pitchFamily="34" charset="0"/>
                        </a:rPr>
                        <a:t>766-85-7061</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87.87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43.935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922.635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29-03-2019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10:25:00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878.7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43.935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5.1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Health and beauty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323.6430197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236.7561479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514592227"/>
                  </a:ext>
                </a:extLst>
              </a:tr>
              <a:tr h="94508">
                <a:tc>
                  <a:txBody>
                    <a:bodyPr/>
                    <a:lstStyle/>
                    <a:p>
                      <a:pPr algn="l" fontAlgn="b"/>
                      <a:r>
                        <a:rPr lang="en-IN" sz="500" b="0" i="0" u="none" strike="noStrike">
                          <a:solidFill>
                            <a:srgbClr val="000000"/>
                          </a:solidFill>
                          <a:effectLst/>
                          <a:latin typeface="Calibri" panose="020F0502020204030204" pitchFamily="34" charset="0"/>
                        </a:rPr>
                        <a:t>267-62-7380</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82.34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41.17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864.57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29-03-2019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19:12:00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823.4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41.17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319.6325382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245.22119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728941677"/>
                  </a:ext>
                </a:extLst>
              </a:tr>
              <a:tr h="94508">
                <a:tc>
                  <a:txBody>
                    <a:bodyPr/>
                    <a:lstStyle/>
                    <a:p>
                      <a:pPr algn="l" fontAlgn="b"/>
                      <a:r>
                        <a:rPr lang="en-IN" sz="500" b="0" i="0" u="none" strike="noStrike">
                          <a:solidFill>
                            <a:srgbClr val="000000"/>
                          </a:solidFill>
                          <a:effectLst/>
                          <a:latin typeface="Calibri" panose="020F0502020204030204" pitchFamily="34" charset="0"/>
                        </a:rPr>
                        <a:t>431-66-2305</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88.25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39.7125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833.9625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15-02-2019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20:51:00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794.25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39.7125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319.6325382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245.22119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679114629"/>
                  </a:ext>
                </a:extLst>
              </a:tr>
              <a:tr h="94508">
                <a:tc>
                  <a:txBody>
                    <a:bodyPr/>
                    <a:lstStyle/>
                    <a:p>
                      <a:pPr algn="l" fontAlgn="b"/>
                      <a:r>
                        <a:rPr lang="en-IN" sz="500" b="0" i="0" u="none" strike="noStrike">
                          <a:solidFill>
                            <a:srgbClr val="000000"/>
                          </a:solidFill>
                          <a:effectLst/>
                          <a:latin typeface="Calibri" panose="020F0502020204030204" pitchFamily="34" charset="0"/>
                        </a:rPr>
                        <a:t>457-94-0464</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87.87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39.5415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830.3715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31-01-2019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20:32:00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790.83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39.5415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5.6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319.6325382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245.22119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25903606"/>
                  </a:ext>
                </a:extLst>
              </a:tr>
              <a:tr h="94508">
                <a:tc>
                  <a:txBody>
                    <a:bodyPr/>
                    <a:lstStyle/>
                    <a:p>
                      <a:pPr algn="l" fontAlgn="b"/>
                      <a:r>
                        <a:rPr lang="en-IN" sz="500" b="0" i="0" u="none" strike="noStrike">
                          <a:solidFill>
                            <a:srgbClr val="000000"/>
                          </a:solidFill>
                          <a:effectLst/>
                          <a:latin typeface="Calibri" panose="020F0502020204030204" pitchFamily="34" charset="0"/>
                        </a:rPr>
                        <a:t>533-33-5337</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79.39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39.695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833.595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07-02-2019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20:24:00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793.9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39.695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319.6325382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245.22119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196594051"/>
                  </a:ext>
                </a:extLst>
              </a:tr>
              <a:tr h="94508">
                <a:tc>
                  <a:txBody>
                    <a:bodyPr/>
                    <a:lstStyle/>
                    <a:p>
                      <a:pPr algn="l" fontAlgn="b"/>
                      <a:r>
                        <a:rPr lang="en-IN" sz="500" b="0" i="0" u="none" strike="noStrike">
                          <a:solidFill>
                            <a:srgbClr val="000000"/>
                          </a:solidFill>
                          <a:effectLst/>
                          <a:latin typeface="Calibri" panose="020F0502020204030204" pitchFamily="34" charset="0"/>
                        </a:rPr>
                        <a:t>227-07-4446</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78.13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39.065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820.365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20:51:00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781.3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39.065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319.6325382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245.22119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4108756939"/>
                  </a:ext>
                </a:extLst>
              </a:tr>
              <a:tr h="94508">
                <a:tc>
                  <a:txBody>
                    <a:bodyPr/>
                    <a:lstStyle/>
                    <a:p>
                      <a:pPr algn="l" fontAlgn="b"/>
                      <a:r>
                        <a:rPr lang="en-IN" sz="500" b="0" i="0" u="none" strike="noStrike">
                          <a:solidFill>
                            <a:srgbClr val="000000"/>
                          </a:solidFill>
                          <a:effectLst/>
                          <a:latin typeface="Calibri" panose="020F0502020204030204" pitchFamily="34" charset="0"/>
                        </a:rPr>
                        <a:t>817-69-8206</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99.73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44.8785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942.4485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02-03-2019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19:42:00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897.57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44.8785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319.6325382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245.22119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145225581"/>
                  </a:ext>
                </a:extLst>
              </a:tr>
              <a:tr h="94508">
                <a:tc>
                  <a:txBody>
                    <a:bodyPr/>
                    <a:lstStyle/>
                    <a:p>
                      <a:pPr algn="l" fontAlgn="b"/>
                      <a:r>
                        <a:rPr lang="en-IN" sz="500" b="0" i="0" u="none" strike="noStrike">
                          <a:solidFill>
                            <a:srgbClr val="000000"/>
                          </a:solidFill>
                          <a:effectLst/>
                          <a:latin typeface="Calibri" panose="020F0502020204030204" pitchFamily="34" charset="0"/>
                        </a:rPr>
                        <a:t>638-60-7125</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A</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Yangon</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99.56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39.824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836.304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14-02-2019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17:03:00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796.48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39.824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5.2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319.6325382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245.22119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090081520"/>
                  </a:ext>
                </a:extLst>
              </a:tr>
              <a:tr h="94508">
                <a:tc>
                  <a:txBody>
                    <a:bodyPr/>
                    <a:lstStyle/>
                    <a:p>
                      <a:pPr algn="l" fontAlgn="b"/>
                      <a:r>
                        <a:rPr lang="en-IN" sz="500" b="0" i="0" u="none" strike="noStrike">
                          <a:solidFill>
                            <a:srgbClr val="000000"/>
                          </a:solidFill>
                          <a:effectLst/>
                          <a:latin typeface="Calibri" panose="020F0502020204030204" pitchFamily="34" charset="0"/>
                        </a:rPr>
                        <a:t>861-77-0145</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81.97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40.985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860.685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03-03-2019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14:30:00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819.7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40.985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319.6325382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245.22119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164087575"/>
                  </a:ext>
                </a:extLst>
              </a:tr>
              <a:tr h="94508">
                <a:tc>
                  <a:txBody>
                    <a:bodyPr/>
                    <a:lstStyle/>
                    <a:p>
                      <a:pPr algn="l" fontAlgn="b"/>
                      <a:r>
                        <a:rPr lang="en-IN" sz="500" b="0" i="0" u="none" strike="noStrike">
                          <a:solidFill>
                            <a:srgbClr val="000000"/>
                          </a:solidFill>
                          <a:effectLst/>
                          <a:latin typeface="Calibri" panose="020F0502020204030204" pitchFamily="34" charset="0"/>
                        </a:rPr>
                        <a:t>704-48-3927</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A</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Yangon</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88.67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44.335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931.035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12-01-2019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14:50:00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886.7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44.335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Electronic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319.6325382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245.22119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031789318"/>
                  </a:ext>
                </a:extLst>
              </a:tr>
              <a:tr h="94508">
                <a:tc>
                  <a:txBody>
                    <a:bodyPr/>
                    <a:lstStyle/>
                    <a:p>
                      <a:pPr algn="l" fontAlgn="b"/>
                      <a:r>
                        <a:rPr lang="en-IN" sz="500" b="0" i="0" u="none" strike="noStrike">
                          <a:solidFill>
                            <a:srgbClr val="000000"/>
                          </a:solidFill>
                          <a:effectLst/>
                          <a:latin typeface="Calibri" panose="020F0502020204030204" pitchFamily="34" charset="0"/>
                        </a:rPr>
                        <a:t>303-96-2227</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97.38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48.69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1022.49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02-03-2019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17:16:00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973.8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48.69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336.6369563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253.8037973</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04154140"/>
                  </a:ext>
                </a:extLst>
              </a:tr>
              <a:tr h="94508">
                <a:tc>
                  <a:txBody>
                    <a:bodyPr/>
                    <a:lstStyle/>
                    <a:p>
                      <a:pPr algn="l" fontAlgn="b"/>
                      <a:r>
                        <a:rPr lang="en-IN" sz="500" b="0" i="0" u="none" strike="noStrike">
                          <a:solidFill>
                            <a:srgbClr val="000000"/>
                          </a:solidFill>
                          <a:effectLst/>
                          <a:latin typeface="Calibri" panose="020F0502020204030204" pitchFamily="34" charset="0"/>
                        </a:rPr>
                        <a:t>744-16-7898</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97.37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48.685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1022.385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15-01-2019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13:48:00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973.7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48.685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336.6369563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253.8037973</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629134526"/>
                  </a:ext>
                </a:extLst>
              </a:tr>
              <a:tr h="94508">
                <a:tc>
                  <a:txBody>
                    <a:bodyPr/>
                    <a:lstStyle/>
                    <a:p>
                      <a:pPr algn="l" fontAlgn="b"/>
                      <a:r>
                        <a:rPr lang="en-IN" sz="500" b="0" i="0" u="none" strike="noStrike">
                          <a:solidFill>
                            <a:srgbClr val="000000"/>
                          </a:solidFill>
                          <a:effectLst/>
                          <a:latin typeface="Calibri" panose="020F0502020204030204" pitchFamily="34" charset="0"/>
                        </a:rPr>
                        <a:t>805-86-0265</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A</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Yangon</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93.96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42.282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887.922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20-03-2019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11:32:00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845.64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42.282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336.6369563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253.8037973</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184713066"/>
                  </a:ext>
                </a:extLst>
              </a:tr>
              <a:tr h="94508">
                <a:tc>
                  <a:txBody>
                    <a:bodyPr/>
                    <a:lstStyle/>
                    <a:p>
                      <a:pPr algn="l" fontAlgn="b"/>
                      <a:r>
                        <a:rPr lang="en-IN" sz="500" b="0" i="0" u="none" strike="noStrike">
                          <a:solidFill>
                            <a:srgbClr val="000000"/>
                          </a:solidFill>
                          <a:effectLst/>
                          <a:latin typeface="Calibri" panose="020F0502020204030204" pitchFamily="34" charset="0"/>
                        </a:rPr>
                        <a:t>751-41-9720</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97.5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48.75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1023.75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12-01-2019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16:18:00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975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48.75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336.6369563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253.8037973</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845434348"/>
                  </a:ext>
                </a:extLst>
              </a:tr>
              <a:tr h="94508">
                <a:tc>
                  <a:txBody>
                    <a:bodyPr/>
                    <a:lstStyle/>
                    <a:p>
                      <a:pPr algn="l" fontAlgn="b"/>
                      <a:r>
                        <a:rPr lang="en-IN" sz="500" b="0" i="0" u="none" strike="noStrike">
                          <a:solidFill>
                            <a:srgbClr val="000000"/>
                          </a:solidFill>
                          <a:effectLst/>
                          <a:latin typeface="Calibri" panose="020F0502020204030204" pitchFamily="34" charset="0"/>
                        </a:rPr>
                        <a:t>325-77-6186</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A</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Yangon</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90.65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45.325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951.825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08-03-2019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10:53:00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906.5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45.325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336.6369563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253.8037973</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686378540"/>
                  </a:ext>
                </a:extLst>
              </a:tr>
              <a:tr h="94508">
                <a:tc>
                  <a:txBody>
                    <a:bodyPr/>
                    <a:lstStyle/>
                    <a:p>
                      <a:pPr algn="l" fontAlgn="b"/>
                      <a:r>
                        <a:rPr lang="en-IN" sz="500" b="0" i="0" u="none" strike="noStrike">
                          <a:solidFill>
                            <a:srgbClr val="000000"/>
                          </a:solidFill>
                          <a:effectLst/>
                          <a:latin typeface="Calibri" panose="020F0502020204030204" pitchFamily="34" charset="0"/>
                        </a:rPr>
                        <a:t>234-65-2137</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95.58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47.79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1003.59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16-01-2019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13:32:00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955.8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47.79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Home and lifestyle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336.6369563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253.8037973</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990460968"/>
                  </a:ext>
                </a:extLst>
              </a:tr>
              <a:tr h="94508">
                <a:tc>
                  <a:txBody>
                    <a:bodyPr/>
                    <a:lstStyle/>
                    <a:p>
                      <a:pPr algn="l" fontAlgn="b"/>
                      <a:r>
                        <a:rPr lang="en-IN" sz="500" b="0" i="0" u="none" strike="noStrike">
                          <a:solidFill>
                            <a:srgbClr val="000000"/>
                          </a:solidFill>
                          <a:effectLst/>
                          <a:latin typeface="Calibri" panose="020F0502020204030204" pitchFamily="34" charset="0"/>
                        </a:rPr>
                        <a:t>139-32-4183</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A</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Yangon</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97.48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43.866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921.186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14-03-2019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14:19:00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877.32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43.866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332.0652199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247.626079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292003070"/>
                  </a:ext>
                </a:extLst>
              </a:tr>
              <a:tr h="94508">
                <a:tc>
                  <a:txBody>
                    <a:bodyPr/>
                    <a:lstStyle/>
                    <a:p>
                      <a:pPr algn="l" fontAlgn="b"/>
                      <a:r>
                        <a:rPr lang="en-IN" sz="500" b="0" i="0" u="none" strike="noStrike">
                          <a:solidFill>
                            <a:srgbClr val="000000"/>
                          </a:solidFill>
                          <a:effectLst/>
                          <a:latin typeface="Calibri" panose="020F0502020204030204" pitchFamily="34" charset="0"/>
                        </a:rPr>
                        <a:t>678-79-0726</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90.63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40.7835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856.4535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18-01-2019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15:28:00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815.67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40.7835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5.1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332.0652199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247.626079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6870267"/>
                  </a:ext>
                </a:extLst>
              </a:tr>
              <a:tr h="94508">
                <a:tc>
                  <a:txBody>
                    <a:bodyPr/>
                    <a:lstStyle/>
                    <a:p>
                      <a:pPr algn="l" fontAlgn="b"/>
                      <a:r>
                        <a:rPr lang="en-IN" sz="500" b="0" i="0" u="none" strike="noStrike">
                          <a:solidFill>
                            <a:srgbClr val="000000"/>
                          </a:solidFill>
                          <a:effectLst/>
                          <a:latin typeface="Calibri" panose="020F0502020204030204" pitchFamily="34" charset="0"/>
                        </a:rPr>
                        <a:t>827-77-7633</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A</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Yangon</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98.09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44.1405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926.9505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17-02-2019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19:41:00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882.81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44.1405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332.0652199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247.626079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610961688"/>
                  </a:ext>
                </a:extLst>
              </a:tr>
              <a:tr h="94508">
                <a:tc>
                  <a:txBody>
                    <a:bodyPr/>
                    <a:lstStyle/>
                    <a:p>
                      <a:pPr algn="l" fontAlgn="b"/>
                      <a:r>
                        <a:rPr lang="en-IN" sz="500" b="0" i="0" u="none" strike="noStrike">
                          <a:solidFill>
                            <a:srgbClr val="000000"/>
                          </a:solidFill>
                          <a:effectLst/>
                          <a:latin typeface="Calibri" panose="020F0502020204030204" pitchFamily="34" charset="0"/>
                        </a:rPr>
                        <a:t>751-69-0068</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99.24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44.658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937.818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19-03-2019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19:09:00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893.16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44.658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332.0652199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247.626079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645629542"/>
                  </a:ext>
                </a:extLst>
              </a:tr>
              <a:tr h="94508">
                <a:tc>
                  <a:txBody>
                    <a:bodyPr/>
                    <a:lstStyle/>
                    <a:p>
                      <a:pPr algn="l" fontAlgn="b"/>
                      <a:r>
                        <a:rPr lang="en-IN" sz="500" b="0" i="0" u="none" strike="noStrike">
                          <a:solidFill>
                            <a:srgbClr val="000000"/>
                          </a:solidFill>
                          <a:effectLst/>
                          <a:latin typeface="Calibri" panose="020F0502020204030204" pitchFamily="34" charset="0"/>
                        </a:rPr>
                        <a:t>554-42-2417</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95.44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1002.12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09-01-2019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13:45:00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954.4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5.2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332.0652199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247.626079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427255637"/>
                  </a:ext>
                </a:extLst>
              </a:tr>
              <a:tr h="94508">
                <a:tc>
                  <a:txBody>
                    <a:bodyPr/>
                    <a:lstStyle/>
                    <a:p>
                      <a:pPr algn="l" fontAlgn="b"/>
                      <a:r>
                        <a:rPr lang="en-IN" sz="500" b="0" i="0" u="none" strike="noStrike">
                          <a:solidFill>
                            <a:srgbClr val="000000"/>
                          </a:solidFill>
                          <a:effectLst/>
                          <a:latin typeface="Calibri" panose="020F0502020204030204" pitchFamily="34" charset="0"/>
                        </a:rPr>
                        <a:t>731-81-9469</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89.8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942.9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23-01-2019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13:00:00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898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5.4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332.0652199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247.626079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81619470"/>
                  </a:ext>
                </a:extLst>
              </a:tr>
              <a:tr h="94508">
                <a:tc>
                  <a:txBody>
                    <a:bodyPr/>
                    <a:lstStyle/>
                    <a:p>
                      <a:pPr algn="l" fontAlgn="b"/>
                      <a:r>
                        <a:rPr lang="en-IN" sz="500" b="0" i="0" u="none" strike="noStrike">
                          <a:solidFill>
                            <a:srgbClr val="000000"/>
                          </a:solidFill>
                          <a:effectLst/>
                          <a:latin typeface="Calibri" panose="020F0502020204030204" pitchFamily="34" charset="0"/>
                        </a:rPr>
                        <a:t>549-84-7482</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90.28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40.626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853.146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08-02-2019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11:15:00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812.52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40.626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332.0652199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247.626079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210485354"/>
                  </a:ext>
                </a:extLst>
              </a:tr>
              <a:tr h="94508">
                <a:tc>
                  <a:txBody>
                    <a:bodyPr/>
                    <a:lstStyle/>
                    <a:p>
                      <a:pPr algn="l" fontAlgn="b"/>
                      <a:r>
                        <a:rPr lang="en-IN" sz="500" b="0" i="0" u="none" strike="noStrike">
                          <a:solidFill>
                            <a:srgbClr val="000000"/>
                          </a:solidFill>
                          <a:effectLst/>
                          <a:latin typeface="Calibri" panose="020F0502020204030204" pitchFamily="34" charset="0"/>
                        </a:rPr>
                        <a:t>219-22-9386</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99.96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44.982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944.622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09-03-2019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17:26:00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899.64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44.982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Sports and travel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332.0652199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247.626079</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604914686"/>
                  </a:ext>
                </a:extLst>
              </a:tr>
              <a:tr h="94508">
                <a:tc>
                  <a:txBody>
                    <a:bodyPr/>
                    <a:lstStyle/>
                    <a:p>
                      <a:pPr algn="l" fontAlgn="b"/>
                      <a:r>
                        <a:rPr lang="en-IN" sz="500" b="0" i="0" u="none" strike="noStrike">
                          <a:solidFill>
                            <a:srgbClr val="000000"/>
                          </a:solidFill>
                          <a:effectLst/>
                          <a:latin typeface="Calibri" panose="020F0502020204030204" pitchFamily="34" charset="0"/>
                        </a:rPr>
                        <a:t>746-04-1077</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84.63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42.315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888.615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01-01-2019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11:36:00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846.3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42.315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893012014"/>
                  </a:ext>
                </a:extLst>
              </a:tr>
              <a:tr h="94508">
                <a:tc>
                  <a:txBody>
                    <a:bodyPr/>
                    <a:lstStyle/>
                    <a:p>
                      <a:pPr algn="l" fontAlgn="b"/>
                      <a:r>
                        <a:rPr lang="en-IN" sz="500" b="0" i="0" u="none" strike="noStrike">
                          <a:solidFill>
                            <a:srgbClr val="000000"/>
                          </a:solidFill>
                          <a:effectLst/>
                          <a:latin typeface="Calibri" panose="020F0502020204030204" pitchFamily="34" charset="0"/>
                        </a:rPr>
                        <a:t>384-59-6655</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A</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Yangon</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98.66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44.397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932.337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19-02-2019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15:07:00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887.94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44.397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810787663"/>
                  </a:ext>
                </a:extLst>
              </a:tr>
              <a:tr h="94508">
                <a:tc>
                  <a:txBody>
                    <a:bodyPr/>
                    <a:lstStyle/>
                    <a:p>
                      <a:pPr algn="l" fontAlgn="b"/>
                      <a:r>
                        <a:rPr lang="en-IN" sz="500" b="0" i="0" u="none" strike="noStrike">
                          <a:solidFill>
                            <a:srgbClr val="000000"/>
                          </a:solidFill>
                          <a:effectLst/>
                          <a:latin typeface="Calibri" panose="020F0502020204030204" pitchFamily="34" charset="0"/>
                        </a:rPr>
                        <a:t>641-51-2661</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87.1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43.55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914.55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12-02-2019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14:45:00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871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43.55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546236788"/>
                  </a:ext>
                </a:extLst>
              </a:tr>
              <a:tr h="94508">
                <a:tc>
                  <a:txBody>
                    <a:bodyPr/>
                    <a:lstStyle/>
                    <a:p>
                      <a:pPr algn="l" fontAlgn="b"/>
                      <a:r>
                        <a:rPr lang="en-IN" sz="500" b="0" i="0" u="none" strike="noStrike">
                          <a:solidFill>
                            <a:srgbClr val="000000"/>
                          </a:solidFill>
                          <a:effectLst/>
                          <a:latin typeface="Calibri" panose="020F0502020204030204" pitchFamily="34" charset="0"/>
                        </a:rPr>
                        <a:t>277-35-5865</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98.97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44.5365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935.2665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09-03-2019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11:23:00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890.73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44.5365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6.7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886271367"/>
                  </a:ext>
                </a:extLst>
              </a:tr>
              <a:tr h="94508">
                <a:tc>
                  <a:txBody>
                    <a:bodyPr/>
                    <a:lstStyle/>
                    <a:p>
                      <a:pPr algn="l" fontAlgn="b"/>
                      <a:r>
                        <a:rPr lang="en-IN" sz="500" b="0" i="0" u="none" strike="noStrike">
                          <a:solidFill>
                            <a:srgbClr val="000000"/>
                          </a:solidFill>
                          <a:effectLst/>
                          <a:latin typeface="Calibri" panose="020F0502020204030204" pitchFamily="34" charset="0"/>
                        </a:rPr>
                        <a:t>698-98-5964</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A</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Yangon</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81.21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40.605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852.705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17-01-2019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13:01:00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812.1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40.605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710784274"/>
                  </a:ext>
                </a:extLst>
              </a:tr>
              <a:tr h="94508">
                <a:tc>
                  <a:txBody>
                    <a:bodyPr/>
                    <a:lstStyle/>
                    <a:p>
                      <a:pPr algn="l" fontAlgn="b"/>
                      <a:r>
                        <a:rPr lang="en-IN" sz="500" b="0" i="0" u="none" strike="noStrike">
                          <a:solidFill>
                            <a:srgbClr val="000000"/>
                          </a:solidFill>
                          <a:effectLst/>
                          <a:latin typeface="Calibri" panose="020F0502020204030204" pitchFamily="34" charset="0"/>
                        </a:rPr>
                        <a:t>866-99-7614</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89.2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936.6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11-02-2019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15:42:00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892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905928894"/>
                  </a:ext>
                </a:extLst>
              </a:tr>
              <a:tr h="94508">
                <a:tc>
                  <a:txBody>
                    <a:bodyPr/>
                    <a:lstStyle/>
                    <a:p>
                      <a:pPr algn="l" fontAlgn="b"/>
                      <a:r>
                        <a:rPr lang="en-IN" sz="500" b="0" i="0" u="none" strike="noStrike">
                          <a:solidFill>
                            <a:srgbClr val="000000"/>
                          </a:solidFill>
                          <a:effectLst/>
                          <a:latin typeface="Calibri" panose="020F0502020204030204" pitchFamily="34" charset="0"/>
                        </a:rPr>
                        <a:t>283-26-5248</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98.52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49.26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1034.46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30-01-2019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20:23:00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985.2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49.26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724280749"/>
                  </a:ext>
                </a:extLst>
              </a:tr>
              <a:tr h="94508">
                <a:tc>
                  <a:txBody>
                    <a:bodyPr/>
                    <a:lstStyle/>
                    <a:p>
                      <a:pPr algn="l" fontAlgn="b"/>
                      <a:r>
                        <a:rPr lang="en-IN" sz="500" b="0" i="0" u="none" strike="noStrike">
                          <a:solidFill>
                            <a:srgbClr val="000000"/>
                          </a:solidFill>
                          <a:effectLst/>
                          <a:latin typeface="Calibri" panose="020F0502020204030204" pitchFamily="34" charset="0"/>
                        </a:rPr>
                        <a:t>677-11-0152</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93.26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41.967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881.307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16-01-2019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18:08:00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839.34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41.967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089181813"/>
                  </a:ext>
                </a:extLst>
              </a:tr>
              <a:tr h="94508">
                <a:tc>
                  <a:txBody>
                    <a:bodyPr/>
                    <a:lstStyle/>
                    <a:p>
                      <a:pPr algn="l" fontAlgn="b"/>
                      <a:r>
                        <a:rPr lang="en-IN" sz="500" b="0" i="0" u="none" strike="noStrike">
                          <a:solidFill>
                            <a:srgbClr val="000000"/>
                          </a:solidFill>
                          <a:effectLst/>
                          <a:latin typeface="Calibri" panose="020F0502020204030204" pitchFamily="34" charset="0"/>
                        </a:rPr>
                        <a:t>286-43-6208</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87.8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39.51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829.71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16-03-2019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19:08:00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790.2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39.51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999059235"/>
                  </a:ext>
                </a:extLst>
              </a:tr>
              <a:tr h="94508">
                <a:tc>
                  <a:txBody>
                    <a:bodyPr/>
                    <a:lstStyle/>
                    <a:p>
                      <a:pPr algn="l" fontAlgn="b"/>
                      <a:r>
                        <a:rPr lang="en-IN" sz="500" b="0" i="0" u="none" strike="noStrike">
                          <a:solidFill>
                            <a:srgbClr val="000000"/>
                          </a:solidFill>
                          <a:effectLst/>
                          <a:latin typeface="Calibri" panose="020F0502020204030204" pitchFamily="34" charset="0"/>
                        </a:rPr>
                        <a:t>829-49-1914</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78.31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39.155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822.255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05-03-2019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16:24:00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783.1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39.155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6.6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650036535"/>
                  </a:ext>
                </a:extLst>
              </a:tr>
              <a:tr h="94508">
                <a:tc>
                  <a:txBody>
                    <a:bodyPr/>
                    <a:lstStyle/>
                    <a:p>
                      <a:pPr algn="l" fontAlgn="b"/>
                      <a:r>
                        <a:rPr lang="en-IN" sz="500" b="0" i="0" u="none" strike="noStrike">
                          <a:solidFill>
                            <a:srgbClr val="000000"/>
                          </a:solidFill>
                          <a:effectLst/>
                          <a:latin typeface="Calibri" panose="020F0502020204030204" pitchFamily="34" charset="0"/>
                        </a:rPr>
                        <a:t>393-65-2792</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89.48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44.74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939.54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06-01-2019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12:46:00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894.8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44.74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521004908"/>
                  </a:ext>
                </a:extLst>
              </a:tr>
              <a:tr h="94508">
                <a:tc>
                  <a:txBody>
                    <a:bodyPr/>
                    <a:lstStyle/>
                    <a:p>
                      <a:pPr algn="l" fontAlgn="b"/>
                      <a:r>
                        <a:rPr lang="en-IN" sz="500" b="0" i="0" u="none" strike="noStrike">
                          <a:solidFill>
                            <a:srgbClr val="000000"/>
                          </a:solidFill>
                          <a:effectLst/>
                          <a:latin typeface="Calibri" panose="020F0502020204030204" pitchFamily="34" charset="0"/>
                        </a:rPr>
                        <a:t>228-96-1411</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98.7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829.08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04-03-2019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20:39:00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789.6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39.48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Food and beverages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322.6715172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246.4465334</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418920213"/>
                  </a:ext>
                </a:extLst>
              </a:tr>
              <a:tr h="94508">
                <a:tc>
                  <a:txBody>
                    <a:bodyPr/>
                    <a:lstStyle/>
                    <a:p>
                      <a:pPr algn="l" fontAlgn="b"/>
                      <a:r>
                        <a:rPr lang="en-IN" sz="500" b="0" i="0" u="none" strike="noStrike">
                          <a:solidFill>
                            <a:srgbClr val="000000"/>
                          </a:solidFill>
                          <a:effectLst/>
                          <a:latin typeface="Calibri" panose="020F0502020204030204" pitchFamily="34" charset="0"/>
                        </a:rPr>
                        <a:t>702-83-5291</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99.82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44.919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943.299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27-03-2019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10:43:00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Cash</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898.38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44.919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6.6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305.0892978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242.8789972</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37735188"/>
                  </a:ext>
                </a:extLst>
              </a:tr>
              <a:tr h="94508">
                <a:tc>
                  <a:txBody>
                    <a:bodyPr/>
                    <a:lstStyle/>
                    <a:p>
                      <a:pPr algn="l" fontAlgn="b"/>
                      <a:r>
                        <a:rPr lang="en-IN" sz="500" b="0" i="0" u="none" strike="noStrike">
                          <a:solidFill>
                            <a:srgbClr val="000000"/>
                          </a:solidFill>
                          <a:effectLst/>
                          <a:latin typeface="Calibri" panose="020F0502020204030204" pitchFamily="34" charset="0"/>
                        </a:rPr>
                        <a:t>652-43-6591</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A</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Yangon</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97.29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38.916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817.236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09-03-2019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13:18:00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778.32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38.916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305.0892978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242.8789972</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588904833"/>
                  </a:ext>
                </a:extLst>
              </a:tr>
              <a:tr h="94508">
                <a:tc>
                  <a:txBody>
                    <a:bodyPr/>
                    <a:lstStyle/>
                    <a:p>
                      <a:pPr algn="l" fontAlgn="b"/>
                      <a:r>
                        <a:rPr lang="en-IN" sz="500" b="0" i="0" u="none" strike="noStrike">
                          <a:solidFill>
                            <a:srgbClr val="000000"/>
                          </a:solidFill>
                          <a:effectLst/>
                          <a:latin typeface="Calibri" panose="020F0502020204030204" pitchFamily="34" charset="0"/>
                        </a:rPr>
                        <a:t>735-32-9839</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98.7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39.48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829.08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31-01-2019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10:36:00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789.6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39.48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305.0892978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242.8789972</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281635488"/>
                  </a:ext>
                </a:extLst>
              </a:tr>
              <a:tr h="94508">
                <a:tc>
                  <a:txBody>
                    <a:bodyPr/>
                    <a:lstStyle/>
                    <a:p>
                      <a:pPr algn="l" fontAlgn="b"/>
                      <a:r>
                        <a:rPr lang="en-IN" sz="500" b="0" i="0" u="none" strike="noStrike">
                          <a:solidFill>
                            <a:srgbClr val="000000"/>
                          </a:solidFill>
                          <a:effectLst/>
                          <a:latin typeface="Calibri" panose="020F0502020204030204" pitchFamily="34" charset="0"/>
                        </a:rPr>
                        <a:t>852-62-7105</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83.25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41.625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874.125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12-01-2019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11:25:00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832.5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41.625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305.0892978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242.8789972</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56703613"/>
                  </a:ext>
                </a:extLst>
              </a:tr>
              <a:tr h="94508">
                <a:tc>
                  <a:txBody>
                    <a:bodyPr/>
                    <a:lstStyle/>
                    <a:p>
                      <a:pPr algn="l" fontAlgn="b"/>
                      <a:r>
                        <a:rPr lang="en-IN" sz="500" b="0" i="0" u="none" strike="noStrike">
                          <a:solidFill>
                            <a:srgbClr val="000000"/>
                          </a:solidFill>
                          <a:effectLst/>
                          <a:latin typeface="Calibri" panose="020F0502020204030204" pitchFamily="34" charset="0"/>
                        </a:rPr>
                        <a:t>271-88-8734</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97.21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48.605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1020.705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08-02-2019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13:00:00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972.1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48.605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305.0892978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242.8789972</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775126272"/>
                  </a:ext>
                </a:extLst>
              </a:tr>
              <a:tr h="94508">
                <a:tc>
                  <a:txBody>
                    <a:bodyPr/>
                    <a:lstStyle/>
                    <a:p>
                      <a:pPr algn="l" fontAlgn="b"/>
                      <a:r>
                        <a:rPr lang="en-IN" sz="500" b="0" i="0" u="none" strike="noStrike">
                          <a:solidFill>
                            <a:srgbClr val="000000"/>
                          </a:solidFill>
                          <a:effectLst/>
                          <a:latin typeface="Calibri" panose="020F0502020204030204" pitchFamily="34" charset="0"/>
                        </a:rPr>
                        <a:t>860-79-0874</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99.3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49.65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1042.65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15-02-2019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14:53:00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993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49.65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6.6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11</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305.0892978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242.8789972</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206093462"/>
                  </a:ext>
                </a:extLst>
              </a:tr>
              <a:tr h="94508">
                <a:tc>
                  <a:txBody>
                    <a:bodyPr/>
                    <a:lstStyle/>
                    <a:p>
                      <a:pPr algn="l" fontAlgn="b"/>
                      <a:r>
                        <a:rPr lang="en-IN" sz="500" b="0" i="0" u="none" strike="noStrike">
                          <a:solidFill>
                            <a:srgbClr val="000000"/>
                          </a:solidFill>
                          <a:effectLst/>
                          <a:latin typeface="Calibri" panose="020F0502020204030204" pitchFamily="34" charset="0"/>
                        </a:rPr>
                        <a:t>549-03-9315</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B</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Mandalay</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94.87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37.948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796.908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12-02-2019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12:58:00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758.96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37.948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305.0892978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242.8789972</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082218956"/>
                  </a:ext>
                </a:extLst>
              </a:tr>
              <a:tr h="94508">
                <a:tc>
                  <a:txBody>
                    <a:bodyPr/>
                    <a:lstStyle/>
                    <a:p>
                      <a:pPr algn="l" fontAlgn="b"/>
                      <a:r>
                        <a:rPr lang="en-IN" sz="500" b="0" i="0" u="none" strike="noStrike">
                          <a:solidFill>
                            <a:srgbClr val="000000"/>
                          </a:solidFill>
                          <a:effectLst/>
                          <a:latin typeface="Calibri" panose="020F0502020204030204" pitchFamily="34" charset="0"/>
                        </a:rPr>
                        <a:t>687-47-8271</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A</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Yangon</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Normal</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98.98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49.49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1039.29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08-02-2019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16:20:00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Credit card</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989.8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49.49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8.7</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305.0892978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r" fontAlgn="b"/>
                      <a:r>
                        <a:rPr lang="en-IN" sz="500" b="0" i="0" u="none" strike="noStrike">
                          <a:solidFill>
                            <a:srgbClr val="000000"/>
                          </a:solidFill>
                          <a:effectLst/>
                          <a:latin typeface="Calibri" panose="020F0502020204030204" pitchFamily="34" charset="0"/>
                        </a:rPr>
                        <a:t>242.8789972</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316818400"/>
                  </a:ext>
                </a:extLst>
              </a:tr>
              <a:tr h="94508">
                <a:tc>
                  <a:txBody>
                    <a:bodyPr/>
                    <a:lstStyle/>
                    <a:p>
                      <a:pPr algn="l" fontAlgn="b"/>
                      <a:r>
                        <a:rPr lang="en-IN" sz="500" b="0" i="0" u="none" strike="noStrike">
                          <a:solidFill>
                            <a:srgbClr val="000000"/>
                          </a:solidFill>
                          <a:effectLst/>
                          <a:latin typeface="Calibri" panose="020F0502020204030204" pitchFamily="34" charset="0"/>
                        </a:rPr>
                        <a:t>574-22-5561</a:t>
                      </a:r>
                    </a:p>
                  </a:txBody>
                  <a:tcPr marL="4184" marR="4184" marT="4184"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C</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Naypyitaw</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Member</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Female</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82.63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41.315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867.615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19-03-2019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17:08:00</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Ewallet</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826.3</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4.761904762</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41.315</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7.9</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6</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l" fontAlgn="b"/>
                      <a:r>
                        <a:rPr lang="en-IN" sz="500" b="0" i="0" u="none" strike="noStrike">
                          <a:solidFill>
                            <a:srgbClr val="000000"/>
                          </a:solidFill>
                          <a:effectLst/>
                          <a:latin typeface="Calibri" panose="020F0502020204030204" pitchFamily="34" charset="0"/>
                        </a:rPr>
                        <a:t>Fashion accessories</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a:solidFill>
                            <a:srgbClr val="000000"/>
                          </a:solidFill>
                          <a:effectLst/>
                          <a:latin typeface="Calibri" panose="020F0502020204030204" pitchFamily="34" charset="0"/>
                        </a:rPr>
                        <a:t>305.0892978</a:t>
                      </a:r>
                    </a:p>
                  </a:txBody>
                  <a:tcPr marL="4184" marR="4184" marT="4184"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r" fontAlgn="b"/>
                      <a:r>
                        <a:rPr lang="en-IN" sz="500" b="0" i="0" u="none" strike="noStrike" dirty="0">
                          <a:solidFill>
                            <a:srgbClr val="000000"/>
                          </a:solidFill>
                          <a:effectLst/>
                          <a:latin typeface="Calibri" panose="020F0502020204030204" pitchFamily="34" charset="0"/>
                        </a:rPr>
                        <a:t>242.8789972</a:t>
                      </a:r>
                    </a:p>
                  </a:txBody>
                  <a:tcPr marL="4184" marR="4184" marT="4184"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97937464"/>
                  </a:ext>
                </a:extLst>
              </a:tr>
            </a:tbl>
          </a:graphicData>
        </a:graphic>
      </p:graphicFrame>
      <p:sp>
        <p:nvSpPr>
          <p:cNvPr id="6" name="Title 1">
            <a:extLst>
              <a:ext uri="{FF2B5EF4-FFF2-40B4-BE49-F238E27FC236}">
                <a16:creationId xmlns:a16="http://schemas.microsoft.com/office/drawing/2014/main" id="{E9BDE41A-CEF4-C6D9-FE2B-272CDE8A8276}"/>
              </a:ext>
            </a:extLst>
          </p:cNvPr>
          <p:cNvSpPr txBox="1">
            <a:spLocks/>
          </p:cNvSpPr>
          <p:nvPr/>
        </p:nvSpPr>
        <p:spPr>
          <a:xfrm>
            <a:off x="838200" y="187940"/>
            <a:ext cx="10515600" cy="6232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0070C0"/>
                </a:solidFill>
                <a:latin typeface="Candara" panose="020E0502030303020204" pitchFamily="34" charset="0"/>
                <a:ea typeface="+mj-ea"/>
                <a:cs typeface="+mj-cs"/>
              </a:defRPr>
            </a:lvl1pPr>
          </a:lstStyle>
          <a:p>
            <a:pPr algn="ctr"/>
            <a:r>
              <a:rPr lang="en-IN" dirty="0"/>
              <a:t>VISUAL REPRESENTATION</a:t>
            </a:r>
          </a:p>
        </p:txBody>
      </p:sp>
      <p:sp>
        <p:nvSpPr>
          <p:cNvPr id="7" name="TextBox 6">
            <a:extLst>
              <a:ext uri="{FF2B5EF4-FFF2-40B4-BE49-F238E27FC236}">
                <a16:creationId xmlns:a16="http://schemas.microsoft.com/office/drawing/2014/main" id="{2A3822F6-D04B-FC5E-8C38-6EDBB77BC5A0}"/>
              </a:ext>
            </a:extLst>
          </p:cNvPr>
          <p:cNvSpPr txBox="1"/>
          <p:nvPr/>
        </p:nvSpPr>
        <p:spPr>
          <a:xfrm>
            <a:off x="523860" y="1133721"/>
            <a:ext cx="6053920" cy="523220"/>
          </a:xfrm>
          <a:prstGeom prst="rect">
            <a:avLst/>
          </a:prstGeom>
          <a:noFill/>
        </p:spPr>
        <p:txBody>
          <a:bodyPr wrap="square" rtlCol="0">
            <a:spAutoFit/>
          </a:bodyPr>
          <a:lstStyle/>
          <a:p>
            <a:r>
              <a:rPr lang="en-IN" sz="2800" b="1" dirty="0">
                <a:solidFill>
                  <a:srgbClr val="002060"/>
                </a:solidFill>
                <a:latin typeface="Candara" panose="020E0502030303020204" pitchFamily="34" charset="0"/>
              </a:rPr>
              <a:t>Number of anomalies: 51</a:t>
            </a:r>
          </a:p>
        </p:txBody>
      </p:sp>
    </p:spTree>
    <p:extLst>
      <p:ext uri="{BB962C8B-B14F-4D97-AF65-F5344CB8AC3E}">
        <p14:creationId xmlns:p14="http://schemas.microsoft.com/office/powerpoint/2010/main" val="322472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4497-40DA-D5FB-39C7-D2B9CDC04D5C}"/>
              </a:ext>
            </a:extLst>
          </p:cNvPr>
          <p:cNvSpPr>
            <a:spLocks noGrp="1"/>
          </p:cNvSpPr>
          <p:nvPr>
            <p:ph type="title"/>
          </p:nvPr>
        </p:nvSpPr>
        <p:spPr>
          <a:xfrm>
            <a:off x="235974" y="18256"/>
            <a:ext cx="11044084" cy="1073126"/>
          </a:xfrm>
        </p:spPr>
        <p:txBody>
          <a:bodyPr>
            <a:normAutofit/>
          </a:bodyPr>
          <a:lstStyle/>
          <a:p>
            <a:r>
              <a:rPr lang="en-US" sz="3200" dirty="0"/>
              <a:t>Task 5: Most Popular Payment Method by City</a:t>
            </a:r>
            <a:endParaRPr lang="en-IN" sz="3200" dirty="0"/>
          </a:p>
        </p:txBody>
      </p:sp>
      <p:sp>
        <p:nvSpPr>
          <p:cNvPr id="3" name="Content Placeholder 2">
            <a:extLst>
              <a:ext uri="{FF2B5EF4-FFF2-40B4-BE49-F238E27FC236}">
                <a16:creationId xmlns:a16="http://schemas.microsoft.com/office/drawing/2014/main" id="{702BC1BC-EBCB-C1BE-6BFF-92EC71DDCBFE}"/>
              </a:ext>
            </a:extLst>
          </p:cNvPr>
          <p:cNvSpPr>
            <a:spLocks noGrp="1"/>
          </p:cNvSpPr>
          <p:nvPr>
            <p:ph idx="1"/>
          </p:nvPr>
        </p:nvSpPr>
        <p:spPr/>
        <p:txBody>
          <a:bodyPr>
            <a:normAutofit fontScale="92500" lnSpcReduction="20000"/>
          </a:bodyPr>
          <a:lstStyle/>
          <a:p>
            <a:pPr marL="0" indent="0">
              <a:buNone/>
            </a:pPr>
            <a:r>
              <a:rPr lang="en-US" dirty="0"/>
              <a:t>select City, Payment, </a:t>
            </a:r>
            <a:r>
              <a:rPr lang="en-US" dirty="0" err="1"/>
              <a:t>payment_count</a:t>
            </a:r>
            <a:endParaRPr lang="en-US" dirty="0"/>
          </a:p>
          <a:p>
            <a:pPr marL="0" indent="0">
              <a:buNone/>
            </a:pPr>
            <a:r>
              <a:rPr lang="en-US" dirty="0"/>
              <a:t>from(</a:t>
            </a:r>
          </a:p>
          <a:p>
            <a:pPr marL="0" indent="0">
              <a:buNone/>
            </a:pPr>
            <a:r>
              <a:rPr lang="en-US" dirty="0"/>
              <a:t>select City,</a:t>
            </a:r>
          </a:p>
          <a:p>
            <a:pPr marL="0" indent="0">
              <a:buNone/>
            </a:pPr>
            <a:r>
              <a:rPr lang="en-US" dirty="0"/>
              <a:t>	   Payment,</a:t>
            </a:r>
          </a:p>
          <a:p>
            <a:pPr marL="0" indent="0">
              <a:buNone/>
            </a:pPr>
            <a:r>
              <a:rPr lang="en-US" dirty="0"/>
              <a:t>       count(Payment) as </a:t>
            </a:r>
            <a:r>
              <a:rPr lang="en-US" dirty="0" err="1"/>
              <a:t>payment_count</a:t>
            </a:r>
            <a:r>
              <a:rPr lang="en-US" dirty="0"/>
              <a:t>,</a:t>
            </a:r>
          </a:p>
          <a:p>
            <a:pPr marL="0" indent="0">
              <a:buNone/>
            </a:pPr>
            <a:r>
              <a:rPr lang="en-US" dirty="0"/>
              <a:t>       rank() over (partition by City order by count(Payment) desc) as ranks</a:t>
            </a:r>
          </a:p>
          <a:p>
            <a:pPr marL="0" indent="0">
              <a:buNone/>
            </a:pPr>
            <a:r>
              <a:rPr lang="en-US" dirty="0"/>
              <a:t>from </a:t>
            </a:r>
            <a:r>
              <a:rPr lang="en-US" dirty="0" err="1"/>
              <a:t>walmartsales</a:t>
            </a:r>
            <a:endParaRPr lang="en-US" dirty="0"/>
          </a:p>
          <a:p>
            <a:pPr marL="0" indent="0">
              <a:buNone/>
            </a:pPr>
            <a:r>
              <a:rPr lang="en-US" dirty="0"/>
              <a:t>group by City, Payment) </a:t>
            </a:r>
          </a:p>
          <a:p>
            <a:pPr marL="0" indent="0">
              <a:buNone/>
            </a:pPr>
            <a:r>
              <a:rPr lang="en-US" dirty="0"/>
              <a:t>as </a:t>
            </a:r>
            <a:r>
              <a:rPr lang="en-US" dirty="0" err="1"/>
              <a:t>rankedpayments</a:t>
            </a:r>
            <a:endParaRPr lang="en-US" dirty="0"/>
          </a:p>
          <a:p>
            <a:pPr marL="0" indent="0">
              <a:buNone/>
            </a:pPr>
            <a:r>
              <a:rPr lang="en-US" dirty="0"/>
              <a:t>where ranks =1;</a:t>
            </a:r>
            <a:endParaRPr lang="en-IN" dirty="0"/>
          </a:p>
        </p:txBody>
      </p:sp>
      <p:sp>
        <p:nvSpPr>
          <p:cNvPr id="4" name="TextBox 3">
            <a:extLst>
              <a:ext uri="{FF2B5EF4-FFF2-40B4-BE49-F238E27FC236}">
                <a16:creationId xmlns:a16="http://schemas.microsoft.com/office/drawing/2014/main" id="{638D6659-4849-55F7-A78D-2F1FFA1AB20C}"/>
              </a:ext>
            </a:extLst>
          </p:cNvPr>
          <p:cNvSpPr txBox="1"/>
          <p:nvPr/>
        </p:nvSpPr>
        <p:spPr>
          <a:xfrm>
            <a:off x="5466735" y="1009643"/>
            <a:ext cx="3731342" cy="461665"/>
          </a:xfrm>
          <a:prstGeom prst="rect">
            <a:avLst/>
          </a:prstGeom>
          <a:noFill/>
        </p:spPr>
        <p:txBody>
          <a:bodyPr wrap="square" rtlCol="0">
            <a:spAutoFit/>
          </a:bodyPr>
          <a:lstStyle/>
          <a:p>
            <a:r>
              <a:rPr lang="en-IN" sz="2400" b="1" dirty="0">
                <a:solidFill>
                  <a:schemeClr val="accent1">
                    <a:lumMod val="50000"/>
                  </a:schemeClr>
                </a:solidFill>
              </a:rPr>
              <a:t>Query:-</a:t>
            </a:r>
          </a:p>
        </p:txBody>
      </p:sp>
    </p:spTree>
    <p:extLst>
      <p:ext uri="{BB962C8B-B14F-4D97-AF65-F5344CB8AC3E}">
        <p14:creationId xmlns:p14="http://schemas.microsoft.com/office/powerpoint/2010/main" val="1552845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DD2410F-15E1-6B00-2501-D5FC10DBB0B4}"/>
              </a:ext>
            </a:extLst>
          </p:cNvPr>
          <p:cNvGraphicFramePr>
            <a:graphicFrameLocks noGrp="1"/>
          </p:cNvGraphicFramePr>
          <p:nvPr>
            <p:extLst>
              <p:ext uri="{D42A27DB-BD31-4B8C-83A1-F6EECF244321}">
                <p14:modId xmlns:p14="http://schemas.microsoft.com/office/powerpoint/2010/main" val="4021424042"/>
              </p:ext>
            </p:extLst>
          </p:nvPr>
        </p:nvGraphicFramePr>
        <p:xfrm>
          <a:off x="178006" y="1304794"/>
          <a:ext cx="5165828" cy="2124204"/>
        </p:xfrm>
        <a:graphic>
          <a:graphicData uri="http://schemas.openxmlformats.org/drawingml/2006/table">
            <a:tbl>
              <a:tblPr/>
              <a:tblGrid>
                <a:gridCol w="1385954">
                  <a:extLst>
                    <a:ext uri="{9D8B030D-6E8A-4147-A177-3AD203B41FA5}">
                      <a16:colId xmlns:a16="http://schemas.microsoft.com/office/drawing/2014/main" val="1687008734"/>
                    </a:ext>
                  </a:extLst>
                </a:gridCol>
                <a:gridCol w="1486750">
                  <a:extLst>
                    <a:ext uri="{9D8B030D-6E8A-4147-A177-3AD203B41FA5}">
                      <a16:colId xmlns:a16="http://schemas.microsoft.com/office/drawing/2014/main" val="2397454076"/>
                    </a:ext>
                  </a:extLst>
                </a:gridCol>
                <a:gridCol w="2293124">
                  <a:extLst>
                    <a:ext uri="{9D8B030D-6E8A-4147-A177-3AD203B41FA5}">
                      <a16:colId xmlns:a16="http://schemas.microsoft.com/office/drawing/2014/main" val="2854642574"/>
                    </a:ext>
                  </a:extLst>
                </a:gridCol>
              </a:tblGrid>
              <a:tr h="531051">
                <a:tc>
                  <a:txBody>
                    <a:bodyPr/>
                    <a:lstStyle/>
                    <a:p>
                      <a:pPr algn="ctr" fontAlgn="b"/>
                      <a:r>
                        <a:rPr lang="en-IN" sz="1800" b="1" i="0" u="none" strike="noStrike">
                          <a:solidFill>
                            <a:srgbClr val="FFFFFF"/>
                          </a:solidFill>
                          <a:effectLst/>
                          <a:latin typeface="Calibri" panose="020F0502020204030204" pitchFamily="34" charset="0"/>
                        </a:rPr>
                        <a:t>City</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800" b="1" i="0" u="none" strike="noStrike">
                          <a:solidFill>
                            <a:srgbClr val="FFFFFF"/>
                          </a:solidFill>
                          <a:effectLst/>
                          <a:latin typeface="Calibri" panose="020F0502020204030204" pitchFamily="34" charset="0"/>
                        </a:rPr>
                        <a:t>Payment</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800" b="1" i="0" u="none" strike="noStrike">
                          <a:solidFill>
                            <a:srgbClr val="FFFFFF"/>
                          </a:solidFill>
                          <a:effectLst/>
                          <a:latin typeface="Calibri" panose="020F0502020204030204" pitchFamily="34" charset="0"/>
                        </a:rPr>
                        <a:t>payment_count</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1617183334"/>
                  </a:ext>
                </a:extLst>
              </a:tr>
              <a:tr h="531051">
                <a:tc>
                  <a:txBody>
                    <a:bodyPr/>
                    <a:lstStyle/>
                    <a:p>
                      <a:pPr algn="ctr" fontAlgn="b"/>
                      <a:r>
                        <a:rPr lang="en-IN" sz="1800" b="0" i="0" u="none" strike="noStrike">
                          <a:solidFill>
                            <a:srgbClr val="000000"/>
                          </a:solidFill>
                          <a:effectLst/>
                          <a:latin typeface="Calibri" panose="020F0502020204030204" pitchFamily="34" charset="0"/>
                        </a:rPr>
                        <a:t>Mandalay</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Ewallet</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113</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633143383"/>
                  </a:ext>
                </a:extLst>
              </a:tr>
              <a:tr h="531051">
                <a:tc>
                  <a:txBody>
                    <a:bodyPr/>
                    <a:lstStyle/>
                    <a:p>
                      <a:pPr algn="ctr" fontAlgn="b"/>
                      <a:r>
                        <a:rPr lang="en-IN" sz="1800" b="0" i="0" u="none" strike="noStrike">
                          <a:solidFill>
                            <a:srgbClr val="000000"/>
                          </a:solidFill>
                          <a:effectLst/>
                          <a:latin typeface="Calibri" panose="020F0502020204030204" pitchFamily="34" charset="0"/>
                        </a:rPr>
                        <a:t>Naypyitaw</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Cash</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124</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862757138"/>
                  </a:ext>
                </a:extLst>
              </a:tr>
              <a:tr h="531051">
                <a:tc>
                  <a:txBody>
                    <a:bodyPr/>
                    <a:lstStyle/>
                    <a:p>
                      <a:pPr algn="ctr" fontAlgn="b"/>
                      <a:r>
                        <a:rPr lang="en-IN" sz="1800" b="0" i="0" u="none" strike="noStrike">
                          <a:solidFill>
                            <a:srgbClr val="000000"/>
                          </a:solidFill>
                          <a:effectLst/>
                          <a:latin typeface="Calibri" panose="020F0502020204030204" pitchFamily="34" charset="0"/>
                        </a:rPr>
                        <a:t>Yangon</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Ewallet</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dirty="0">
                          <a:solidFill>
                            <a:srgbClr val="000000"/>
                          </a:solidFill>
                          <a:effectLst/>
                          <a:latin typeface="Calibri" panose="020F0502020204030204" pitchFamily="34" charset="0"/>
                        </a:rPr>
                        <a:t>126</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172429742"/>
                  </a:ext>
                </a:extLst>
              </a:tr>
            </a:tbl>
          </a:graphicData>
        </a:graphic>
      </p:graphicFrame>
      <p:sp>
        <p:nvSpPr>
          <p:cNvPr id="3" name="Title 1">
            <a:extLst>
              <a:ext uri="{FF2B5EF4-FFF2-40B4-BE49-F238E27FC236}">
                <a16:creationId xmlns:a16="http://schemas.microsoft.com/office/drawing/2014/main" id="{A207D921-86E2-F439-4A95-254A99ED2899}"/>
              </a:ext>
            </a:extLst>
          </p:cNvPr>
          <p:cNvSpPr>
            <a:spLocks noGrp="1"/>
          </p:cNvSpPr>
          <p:nvPr>
            <p:ph type="title"/>
          </p:nvPr>
        </p:nvSpPr>
        <p:spPr>
          <a:xfrm>
            <a:off x="554140" y="305928"/>
            <a:ext cx="10515600" cy="637970"/>
          </a:xfrm>
        </p:spPr>
        <p:txBody>
          <a:bodyPr/>
          <a:lstStyle/>
          <a:p>
            <a:pPr algn="ctr"/>
            <a:r>
              <a:rPr lang="en-IN" dirty="0"/>
              <a:t>VISUAL REPRESENTATION</a:t>
            </a:r>
          </a:p>
        </p:txBody>
      </p:sp>
      <p:graphicFrame>
        <p:nvGraphicFramePr>
          <p:cNvPr id="7" name="Chart 6">
            <a:extLst>
              <a:ext uri="{FF2B5EF4-FFF2-40B4-BE49-F238E27FC236}">
                <a16:creationId xmlns:a16="http://schemas.microsoft.com/office/drawing/2014/main" id="{7D5B91CF-284D-19CC-8EDC-2B7C29267B3D}"/>
              </a:ext>
            </a:extLst>
          </p:cNvPr>
          <p:cNvGraphicFramePr/>
          <p:nvPr>
            <p:extLst>
              <p:ext uri="{D42A27DB-BD31-4B8C-83A1-F6EECF244321}">
                <p14:modId xmlns:p14="http://schemas.microsoft.com/office/powerpoint/2010/main" val="2996874283"/>
              </p:ext>
            </p:extLst>
          </p:nvPr>
        </p:nvGraphicFramePr>
        <p:xfrm>
          <a:off x="5723091" y="1264572"/>
          <a:ext cx="5987128" cy="48209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18815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6B304-4B58-A779-C895-FB59D259A02E}"/>
              </a:ext>
            </a:extLst>
          </p:cNvPr>
          <p:cNvSpPr>
            <a:spLocks noGrp="1"/>
          </p:cNvSpPr>
          <p:nvPr>
            <p:ph type="title"/>
          </p:nvPr>
        </p:nvSpPr>
        <p:spPr>
          <a:xfrm>
            <a:off x="346880" y="0"/>
            <a:ext cx="10515600" cy="947686"/>
          </a:xfrm>
        </p:spPr>
        <p:txBody>
          <a:bodyPr/>
          <a:lstStyle/>
          <a:p>
            <a:r>
              <a:rPr lang="en-US" dirty="0"/>
              <a:t>Task 6: Monthly Sales Distribution by Gender</a:t>
            </a:r>
            <a:endParaRPr lang="en-IN" dirty="0"/>
          </a:p>
        </p:txBody>
      </p:sp>
      <p:sp>
        <p:nvSpPr>
          <p:cNvPr id="3" name="Content Placeholder 2">
            <a:extLst>
              <a:ext uri="{FF2B5EF4-FFF2-40B4-BE49-F238E27FC236}">
                <a16:creationId xmlns:a16="http://schemas.microsoft.com/office/drawing/2014/main" id="{B1372F76-7314-055E-A5B3-B37F57D59C3C}"/>
              </a:ext>
            </a:extLst>
          </p:cNvPr>
          <p:cNvSpPr>
            <a:spLocks noGrp="1"/>
          </p:cNvSpPr>
          <p:nvPr>
            <p:ph idx="1"/>
          </p:nvPr>
        </p:nvSpPr>
        <p:spPr/>
        <p:txBody>
          <a:bodyPr/>
          <a:lstStyle/>
          <a:p>
            <a:pPr marL="0" indent="0">
              <a:buNone/>
            </a:pPr>
            <a:r>
              <a:rPr lang="en-US" dirty="0"/>
              <a:t>select Gender,</a:t>
            </a:r>
          </a:p>
          <a:p>
            <a:pPr marL="0" indent="0">
              <a:buNone/>
            </a:pPr>
            <a:r>
              <a:rPr lang="en-US" dirty="0"/>
              <a:t>    month(</a:t>
            </a:r>
            <a:r>
              <a:rPr lang="en-US" dirty="0" err="1"/>
              <a:t>str_to_date</a:t>
            </a:r>
            <a:r>
              <a:rPr lang="en-US" dirty="0"/>
              <a:t>(Date, '%d-%m-%Y')) as </a:t>
            </a:r>
            <a:r>
              <a:rPr lang="en-US" dirty="0" err="1"/>
              <a:t>monthwise</a:t>
            </a:r>
            <a:r>
              <a:rPr lang="en-US" dirty="0"/>
              <a:t>,</a:t>
            </a:r>
          </a:p>
          <a:p>
            <a:pPr marL="0" indent="0">
              <a:buNone/>
            </a:pPr>
            <a:r>
              <a:rPr lang="en-US" dirty="0"/>
              <a:t>    sum(Total) as </a:t>
            </a:r>
            <a:r>
              <a:rPr lang="en-US" dirty="0" err="1"/>
              <a:t>Total_sales</a:t>
            </a:r>
            <a:endParaRPr lang="en-US" dirty="0"/>
          </a:p>
          <a:p>
            <a:pPr marL="0" indent="0">
              <a:buNone/>
            </a:pPr>
            <a:r>
              <a:rPr lang="en-US" dirty="0"/>
              <a:t>from </a:t>
            </a:r>
            <a:r>
              <a:rPr lang="en-US" dirty="0" err="1"/>
              <a:t>walmartsales</a:t>
            </a:r>
            <a:endParaRPr lang="en-US" dirty="0"/>
          </a:p>
          <a:p>
            <a:pPr marL="0" indent="0">
              <a:buNone/>
            </a:pPr>
            <a:r>
              <a:rPr lang="en-US" dirty="0"/>
              <a:t>group by Gender, </a:t>
            </a:r>
            <a:r>
              <a:rPr lang="en-US" dirty="0" err="1"/>
              <a:t>monthwise</a:t>
            </a:r>
            <a:endParaRPr lang="en-US" dirty="0"/>
          </a:p>
          <a:p>
            <a:pPr marL="0" indent="0">
              <a:buNone/>
            </a:pPr>
            <a:r>
              <a:rPr lang="en-US" dirty="0"/>
              <a:t>order by </a:t>
            </a:r>
            <a:r>
              <a:rPr lang="en-US" dirty="0" err="1"/>
              <a:t>monthwise,Total_sales</a:t>
            </a:r>
            <a:r>
              <a:rPr lang="en-US" dirty="0"/>
              <a:t> desc;</a:t>
            </a:r>
            <a:endParaRPr lang="en-IN" dirty="0"/>
          </a:p>
        </p:txBody>
      </p:sp>
      <p:sp>
        <p:nvSpPr>
          <p:cNvPr id="4" name="TextBox 3">
            <a:extLst>
              <a:ext uri="{FF2B5EF4-FFF2-40B4-BE49-F238E27FC236}">
                <a16:creationId xmlns:a16="http://schemas.microsoft.com/office/drawing/2014/main" id="{64BAF27E-A5A6-810A-1FD8-DB499DE5A4C4}"/>
              </a:ext>
            </a:extLst>
          </p:cNvPr>
          <p:cNvSpPr txBox="1"/>
          <p:nvPr/>
        </p:nvSpPr>
        <p:spPr>
          <a:xfrm>
            <a:off x="5466735" y="1009643"/>
            <a:ext cx="3731342" cy="461665"/>
          </a:xfrm>
          <a:prstGeom prst="rect">
            <a:avLst/>
          </a:prstGeom>
          <a:noFill/>
        </p:spPr>
        <p:txBody>
          <a:bodyPr wrap="square" rtlCol="0">
            <a:spAutoFit/>
          </a:bodyPr>
          <a:lstStyle/>
          <a:p>
            <a:r>
              <a:rPr lang="en-IN" sz="2400" b="1" dirty="0">
                <a:solidFill>
                  <a:schemeClr val="accent1">
                    <a:lumMod val="50000"/>
                  </a:schemeClr>
                </a:solidFill>
              </a:rPr>
              <a:t>Query:-</a:t>
            </a:r>
          </a:p>
        </p:txBody>
      </p:sp>
    </p:spTree>
    <p:extLst>
      <p:ext uri="{BB962C8B-B14F-4D97-AF65-F5344CB8AC3E}">
        <p14:creationId xmlns:p14="http://schemas.microsoft.com/office/powerpoint/2010/main" val="2184467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049D7C1-F636-203F-27EC-EEA295EBA157}"/>
              </a:ext>
            </a:extLst>
          </p:cNvPr>
          <p:cNvGraphicFramePr>
            <a:graphicFrameLocks noGrp="1"/>
          </p:cNvGraphicFramePr>
          <p:nvPr>
            <p:extLst>
              <p:ext uri="{D42A27DB-BD31-4B8C-83A1-F6EECF244321}">
                <p14:modId xmlns:p14="http://schemas.microsoft.com/office/powerpoint/2010/main" val="4242335459"/>
              </p:ext>
            </p:extLst>
          </p:nvPr>
        </p:nvGraphicFramePr>
        <p:xfrm>
          <a:off x="346879" y="1257135"/>
          <a:ext cx="5801033" cy="2830282"/>
        </p:xfrm>
        <a:graphic>
          <a:graphicData uri="http://schemas.openxmlformats.org/drawingml/2006/table">
            <a:tbl>
              <a:tblPr/>
              <a:tblGrid>
                <a:gridCol w="1601327">
                  <a:extLst>
                    <a:ext uri="{9D8B030D-6E8A-4147-A177-3AD203B41FA5}">
                      <a16:colId xmlns:a16="http://schemas.microsoft.com/office/drawing/2014/main" val="1766066297"/>
                    </a:ext>
                  </a:extLst>
                </a:gridCol>
                <a:gridCol w="2114960">
                  <a:extLst>
                    <a:ext uri="{9D8B030D-6E8A-4147-A177-3AD203B41FA5}">
                      <a16:colId xmlns:a16="http://schemas.microsoft.com/office/drawing/2014/main" val="1066215817"/>
                    </a:ext>
                  </a:extLst>
                </a:gridCol>
                <a:gridCol w="2084746">
                  <a:extLst>
                    <a:ext uri="{9D8B030D-6E8A-4147-A177-3AD203B41FA5}">
                      <a16:colId xmlns:a16="http://schemas.microsoft.com/office/drawing/2014/main" val="3544427744"/>
                    </a:ext>
                  </a:extLst>
                </a:gridCol>
              </a:tblGrid>
              <a:tr h="404326">
                <a:tc>
                  <a:txBody>
                    <a:bodyPr/>
                    <a:lstStyle/>
                    <a:p>
                      <a:pPr algn="ctr" fontAlgn="b"/>
                      <a:r>
                        <a:rPr lang="en-IN" sz="1600" b="1" i="0" u="none" strike="noStrike">
                          <a:solidFill>
                            <a:srgbClr val="FFFFFF"/>
                          </a:solidFill>
                          <a:effectLst/>
                          <a:latin typeface="Calibri" panose="020F0502020204030204" pitchFamily="34" charset="0"/>
                        </a:rPr>
                        <a:t>Gender</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600" b="1" i="0" u="none" strike="noStrike" dirty="0" err="1">
                          <a:solidFill>
                            <a:srgbClr val="FFFFFF"/>
                          </a:solidFill>
                          <a:effectLst/>
                          <a:latin typeface="Calibri" panose="020F0502020204030204" pitchFamily="34" charset="0"/>
                        </a:rPr>
                        <a:t>Month_number</a:t>
                      </a:r>
                      <a:endParaRPr lang="en-IN" sz="1600" b="1" i="0" u="none" strike="noStrike" dirty="0">
                        <a:solidFill>
                          <a:srgbClr val="FFFFFF"/>
                        </a:solidFill>
                        <a:effectLst/>
                        <a:latin typeface="Calibri" panose="020F0502020204030204" pitchFamily="34" charset="0"/>
                      </a:endParaRP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600" b="1" i="0" u="none" strike="noStrike">
                          <a:solidFill>
                            <a:srgbClr val="FFFFFF"/>
                          </a:solidFill>
                          <a:effectLst/>
                          <a:latin typeface="Calibri" panose="020F0502020204030204" pitchFamily="34" charset="0"/>
                        </a:rPr>
                        <a:t>Total_sales</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3495616320"/>
                  </a:ext>
                </a:extLst>
              </a:tr>
              <a:tr h="404326">
                <a:tc>
                  <a:txBody>
                    <a:bodyPr/>
                    <a:lstStyle/>
                    <a:p>
                      <a:pPr algn="ctr" fontAlgn="b"/>
                      <a:r>
                        <a:rPr lang="en-IN" sz="1800" b="0" i="0" u="none" strike="noStrike">
                          <a:solidFill>
                            <a:srgbClr val="000000"/>
                          </a:solidFill>
                          <a:effectLst/>
                          <a:latin typeface="Calibri" panose="020F0502020204030204" pitchFamily="34" charset="0"/>
                        </a:rPr>
                        <a:t>Female</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1</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59138.982</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439508304"/>
                  </a:ext>
                </a:extLst>
              </a:tr>
              <a:tr h="404326">
                <a:tc>
                  <a:txBody>
                    <a:bodyPr/>
                    <a:lstStyle/>
                    <a:p>
                      <a:pPr algn="ctr" fontAlgn="b"/>
                      <a:r>
                        <a:rPr lang="en-IN" sz="1800" b="0" i="0" u="none" strike="noStrike">
                          <a:solidFill>
                            <a:srgbClr val="000000"/>
                          </a:solidFill>
                          <a:effectLst/>
                          <a:latin typeface="Calibri" panose="020F0502020204030204" pitchFamily="34" charset="0"/>
                        </a:rPr>
                        <a:t>Male</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1</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57152.886</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068103676"/>
                  </a:ext>
                </a:extLst>
              </a:tr>
              <a:tr h="404326">
                <a:tc>
                  <a:txBody>
                    <a:bodyPr/>
                    <a:lstStyle/>
                    <a:p>
                      <a:pPr algn="ctr" fontAlgn="b"/>
                      <a:r>
                        <a:rPr lang="en-IN" sz="1800" b="0" i="0" u="none" strike="noStrike">
                          <a:solidFill>
                            <a:srgbClr val="000000"/>
                          </a:solidFill>
                          <a:effectLst/>
                          <a:latin typeface="Calibri" panose="020F0502020204030204" pitchFamily="34" charset="0"/>
                        </a:rPr>
                        <a:t>Female</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2</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56335.5555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91385351"/>
                  </a:ext>
                </a:extLst>
              </a:tr>
              <a:tr h="404326">
                <a:tc>
                  <a:txBody>
                    <a:bodyPr/>
                    <a:lstStyle/>
                    <a:p>
                      <a:pPr algn="ctr" fontAlgn="b"/>
                      <a:r>
                        <a:rPr lang="en-IN" sz="1800" b="0" i="0" u="none" strike="noStrike">
                          <a:solidFill>
                            <a:srgbClr val="000000"/>
                          </a:solidFill>
                          <a:effectLst/>
                          <a:latin typeface="Calibri" panose="020F0502020204030204" pitchFamily="34" charset="0"/>
                        </a:rPr>
                        <a:t>Male</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2</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40883.8185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6818711"/>
                  </a:ext>
                </a:extLst>
              </a:tr>
              <a:tr h="404326">
                <a:tc>
                  <a:txBody>
                    <a:bodyPr/>
                    <a:lstStyle/>
                    <a:p>
                      <a:pPr algn="ctr" fontAlgn="b"/>
                      <a:r>
                        <a:rPr lang="en-IN" sz="1800" b="0" i="0" u="none" strike="noStrike">
                          <a:solidFill>
                            <a:srgbClr val="000000"/>
                          </a:solidFill>
                          <a:effectLst/>
                          <a:latin typeface="Calibri" panose="020F0502020204030204" pitchFamily="34" charset="0"/>
                        </a:rPr>
                        <a:t>Male</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3</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57047.1195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568534103"/>
                  </a:ext>
                </a:extLst>
              </a:tr>
              <a:tr h="404326">
                <a:tc>
                  <a:txBody>
                    <a:bodyPr/>
                    <a:lstStyle/>
                    <a:p>
                      <a:pPr algn="ctr" fontAlgn="b"/>
                      <a:r>
                        <a:rPr lang="en-IN" sz="1800" b="0" i="0" u="none" strike="noStrike">
                          <a:solidFill>
                            <a:srgbClr val="000000"/>
                          </a:solidFill>
                          <a:effectLst/>
                          <a:latin typeface="Calibri" panose="020F0502020204030204" pitchFamily="34" charset="0"/>
                        </a:rPr>
                        <a:t>Female</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3</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dirty="0">
                          <a:solidFill>
                            <a:srgbClr val="000000"/>
                          </a:solidFill>
                          <a:effectLst/>
                          <a:latin typeface="Calibri" panose="020F0502020204030204" pitchFamily="34" charset="0"/>
                        </a:rPr>
                        <a:t>52408.3875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746561040"/>
                  </a:ext>
                </a:extLst>
              </a:tr>
            </a:tbl>
          </a:graphicData>
        </a:graphic>
      </p:graphicFrame>
      <p:graphicFrame>
        <p:nvGraphicFramePr>
          <p:cNvPr id="6" name="Chart 5">
            <a:extLst>
              <a:ext uri="{FF2B5EF4-FFF2-40B4-BE49-F238E27FC236}">
                <a16:creationId xmlns:a16="http://schemas.microsoft.com/office/drawing/2014/main" id="{75351B18-609E-F7C1-0C29-747CD66AE8E6}"/>
              </a:ext>
            </a:extLst>
          </p:cNvPr>
          <p:cNvGraphicFramePr/>
          <p:nvPr>
            <p:extLst>
              <p:ext uri="{D42A27DB-BD31-4B8C-83A1-F6EECF244321}">
                <p14:modId xmlns:p14="http://schemas.microsoft.com/office/powerpoint/2010/main" val="4005169719"/>
              </p:ext>
            </p:extLst>
          </p:nvPr>
        </p:nvGraphicFramePr>
        <p:xfrm>
          <a:off x="6327059" y="1257135"/>
          <a:ext cx="5518062" cy="4511598"/>
        </p:xfrm>
        <a:graphic>
          <a:graphicData uri="http://schemas.openxmlformats.org/drawingml/2006/chart">
            <c:chart xmlns:c="http://schemas.openxmlformats.org/drawingml/2006/chart" xmlns:r="http://schemas.openxmlformats.org/officeDocument/2006/relationships" r:id="rId2"/>
          </a:graphicData>
        </a:graphic>
      </p:graphicFrame>
      <p:sp>
        <p:nvSpPr>
          <p:cNvPr id="7" name="Title 1">
            <a:extLst>
              <a:ext uri="{FF2B5EF4-FFF2-40B4-BE49-F238E27FC236}">
                <a16:creationId xmlns:a16="http://schemas.microsoft.com/office/drawing/2014/main" id="{7E28761D-CDDF-249E-01D3-CD155FE7B20D}"/>
              </a:ext>
            </a:extLst>
          </p:cNvPr>
          <p:cNvSpPr>
            <a:spLocks noGrp="1"/>
          </p:cNvSpPr>
          <p:nvPr>
            <p:ph type="title"/>
          </p:nvPr>
        </p:nvSpPr>
        <p:spPr>
          <a:xfrm>
            <a:off x="838200" y="261682"/>
            <a:ext cx="10515600" cy="623222"/>
          </a:xfrm>
        </p:spPr>
        <p:txBody>
          <a:bodyPr/>
          <a:lstStyle/>
          <a:p>
            <a:pPr algn="ctr"/>
            <a:r>
              <a:rPr lang="en-IN" dirty="0"/>
              <a:t>VISUAL REPRESENTATION</a:t>
            </a:r>
          </a:p>
        </p:txBody>
      </p:sp>
    </p:spTree>
    <p:extLst>
      <p:ext uri="{BB962C8B-B14F-4D97-AF65-F5344CB8AC3E}">
        <p14:creationId xmlns:p14="http://schemas.microsoft.com/office/powerpoint/2010/main" val="3448426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6E0B3-5D4F-CD90-925F-65D5EF68711E}"/>
              </a:ext>
            </a:extLst>
          </p:cNvPr>
          <p:cNvSpPr>
            <a:spLocks noGrp="1"/>
          </p:cNvSpPr>
          <p:nvPr>
            <p:ph type="title"/>
          </p:nvPr>
        </p:nvSpPr>
        <p:spPr>
          <a:xfrm>
            <a:off x="346880" y="0"/>
            <a:ext cx="10515600" cy="1109919"/>
          </a:xfrm>
        </p:spPr>
        <p:txBody>
          <a:bodyPr/>
          <a:lstStyle/>
          <a:p>
            <a:r>
              <a:rPr lang="en-US" dirty="0"/>
              <a:t>Task 7: Best Product Line by Customer Type</a:t>
            </a:r>
            <a:endParaRPr lang="en-IN" dirty="0"/>
          </a:p>
        </p:txBody>
      </p:sp>
      <p:sp>
        <p:nvSpPr>
          <p:cNvPr id="3" name="Content Placeholder 2">
            <a:extLst>
              <a:ext uri="{FF2B5EF4-FFF2-40B4-BE49-F238E27FC236}">
                <a16:creationId xmlns:a16="http://schemas.microsoft.com/office/drawing/2014/main" id="{2D27EFE7-E410-131D-022D-05A4C052E604}"/>
              </a:ext>
            </a:extLst>
          </p:cNvPr>
          <p:cNvSpPr>
            <a:spLocks noGrp="1"/>
          </p:cNvSpPr>
          <p:nvPr>
            <p:ph idx="1"/>
          </p:nvPr>
        </p:nvSpPr>
        <p:spPr>
          <a:xfrm>
            <a:off x="346880" y="1740028"/>
            <a:ext cx="10515600" cy="2640243"/>
          </a:xfrm>
        </p:spPr>
        <p:txBody>
          <a:bodyPr>
            <a:noAutofit/>
          </a:bodyPr>
          <a:lstStyle/>
          <a:p>
            <a:pPr marL="0" indent="0">
              <a:buNone/>
            </a:pPr>
            <a:r>
              <a:rPr lang="en-US" sz="2400" dirty="0"/>
              <a:t>select </a:t>
            </a:r>
            <a:r>
              <a:rPr lang="en-US" sz="2400" dirty="0" err="1"/>
              <a:t>Customer_type</a:t>
            </a:r>
            <a:r>
              <a:rPr lang="en-US" sz="2400" dirty="0"/>
              <a:t>, </a:t>
            </a:r>
            <a:r>
              <a:rPr lang="en-US" sz="2400" dirty="0" err="1"/>
              <a:t>Product_line</a:t>
            </a:r>
            <a:r>
              <a:rPr lang="en-US" sz="2400" dirty="0"/>
              <a:t>, count(</a:t>
            </a:r>
            <a:r>
              <a:rPr lang="en-US" sz="2400" dirty="0" err="1"/>
              <a:t>Product_line</a:t>
            </a:r>
            <a:r>
              <a:rPr lang="en-US" sz="2400" dirty="0"/>
              <a:t>) as </a:t>
            </a:r>
            <a:r>
              <a:rPr lang="en-US" sz="2400" dirty="0" err="1"/>
              <a:t>count_product</a:t>
            </a:r>
            <a:endParaRPr lang="en-US" sz="2400" dirty="0"/>
          </a:p>
          <a:p>
            <a:pPr marL="0" indent="0">
              <a:buNone/>
            </a:pPr>
            <a:r>
              <a:rPr lang="en-US" sz="2400" dirty="0"/>
              <a:t>from </a:t>
            </a:r>
            <a:r>
              <a:rPr lang="en-US" sz="2400" dirty="0" err="1"/>
              <a:t>walmartsales</a:t>
            </a:r>
            <a:endParaRPr lang="en-US" sz="2400" dirty="0"/>
          </a:p>
          <a:p>
            <a:pPr marL="0" indent="0">
              <a:buNone/>
            </a:pPr>
            <a:r>
              <a:rPr lang="en-US" sz="2400" dirty="0"/>
              <a:t>group by </a:t>
            </a:r>
            <a:r>
              <a:rPr lang="en-US" sz="2400" dirty="0" err="1"/>
              <a:t>Customer_type</a:t>
            </a:r>
            <a:r>
              <a:rPr lang="en-US" sz="2400" dirty="0"/>
              <a:t>, </a:t>
            </a:r>
            <a:r>
              <a:rPr lang="en-US" sz="2400" dirty="0" err="1"/>
              <a:t>Product_line</a:t>
            </a:r>
            <a:endParaRPr lang="en-US" sz="2400" dirty="0"/>
          </a:p>
          <a:p>
            <a:pPr marL="0" indent="0">
              <a:buNone/>
            </a:pPr>
            <a:r>
              <a:rPr lang="en-US" sz="2400" dirty="0"/>
              <a:t>order by </a:t>
            </a:r>
            <a:r>
              <a:rPr lang="en-US" sz="2400" dirty="0" err="1"/>
              <a:t>count_product</a:t>
            </a:r>
            <a:r>
              <a:rPr lang="en-US" sz="2400" dirty="0"/>
              <a:t> desc</a:t>
            </a:r>
          </a:p>
          <a:p>
            <a:pPr marL="0" indent="0">
              <a:buNone/>
            </a:pPr>
            <a:r>
              <a:rPr lang="en-US" sz="2400" dirty="0"/>
              <a:t>limit 3;</a:t>
            </a:r>
            <a:endParaRPr lang="en-IN" sz="2400" dirty="0"/>
          </a:p>
        </p:txBody>
      </p:sp>
      <p:sp>
        <p:nvSpPr>
          <p:cNvPr id="4" name="TextBox 3">
            <a:extLst>
              <a:ext uri="{FF2B5EF4-FFF2-40B4-BE49-F238E27FC236}">
                <a16:creationId xmlns:a16="http://schemas.microsoft.com/office/drawing/2014/main" id="{5F3E5FEE-3E99-AF58-294D-BDD344061A3D}"/>
              </a:ext>
            </a:extLst>
          </p:cNvPr>
          <p:cNvSpPr txBox="1"/>
          <p:nvPr/>
        </p:nvSpPr>
        <p:spPr>
          <a:xfrm>
            <a:off x="5466735" y="1009643"/>
            <a:ext cx="3731342" cy="461665"/>
          </a:xfrm>
          <a:prstGeom prst="rect">
            <a:avLst/>
          </a:prstGeom>
          <a:noFill/>
        </p:spPr>
        <p:txBody>
          <a:bodyPr wrap="square" rtlCol="0">
            <a:spAutoFit/>
          </a:bodyPr>
          <a:lstStyle/>
          <a:p>
            <a:r>
              <a:rPr lang="en-IN" sz="2400" b="1" dirty="0">
                <a:solidFill>
                  <a:schemeClr val="accent1">
                    <a:lumMod val="50000"/>
                  </a:schemeClr>
                </a:solidFill>
              </a:rPr>
              <a:t>Query:-</a:t>
            </a:r>
          </a:p>
        </p:txBody>
      </p:sp>
    </p:spTree>
    <p:extLst>
      <p:ext uri="{BB962C8B-B14F-4D97-AF65-F5344CB8AC3E}">
        <p14:creationId xmlns:p14="http://schemas.microsoft.com/office/powerpoint/2010/main" val="2136593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D434A92-1159-757C-8754-3BFD9B0411F5}"/>
              </a:ext>
            </a:extLst>
          </p:cNvPr>
          <p:cNvGraphicFramePr>
            <a:graphicFrameLocks noGrp="1"/>
          </p:cNvGraphicFramePr>
          <p:nvPr>
            <p:extLst>
              <p:ext uri="{D42A27DB-BD31-4B8C-83A1-F6EECF244321}">
                <p14:modId xmlns:p14="http://schemas.microsoft.com/office/powerpoint/2010/main" val="2939355250"/>
              </p:ext>
            </p:extLst>
          </p:nvPr>
        </p:nvGraphicFramePr>
        <p:xfrm>
          <a:off x="140403" y="1246240"/>
          <a:ext cx="5611469" cy="2182760"/>
        </p:xfrm>
        <a:graphic>
          <a:graphicData uri="http://schemas.openxmlformats.org/drawingml/2006/table">
            <a:tbl>
              <a:tblPr/>
              <a:tblGrid>
                <a:gridCol w="1772827">
                  <a:extLst>
                    <a:ext uri="{9D8B030D-6E8A-4147-A177-3AD203B41FA5}">
                      <a16:colId xmlns:a16="http://schemas.microsoft.com/office/drawing/2014/main" val="2394258398"/>
                    </a:ext>
                  </a:extLst>
                </a:gridCol>
                <a:gridCol w="2130371">
                  <a:extLst>
                    <a:ext uri="{9D8B030D-6E8A-4147-A177-3AD203B41FA5}">
                      <a16:colId xmlns:a16="http://schemas.microsoft.com/office/drawing/2014/main" val="2059546467"/>
                    </a:ext>
                  </a:extLst>
                </a:gridCol>
                <a:gridCol w="1708271">
                  <a:extLst>
                    <a:ext uri="{9D8B030D-6E8A-4147-A177-3AD203B41FA5}">
                      <a16:colId xmlns:a16="http://schemas.microsoft.com/office/drawing/2014/main" val="4041439510"/>
                    </a:ext>
                  </a:extLst>
                </a:gridCol>
              </a:tblGrid>
              <a:tr h="545690">
                <a:tc>
                  <a:txBody>
                    <a:bodyPr/>
                    <a:lstStyle/>
                    <a:p>
                      <a:pPr algn="ctr" fontAlgn="b"/>
                      <a:r>
                        <a:rPr lang="en-IN" sz="1600" b="1" i="0" u="none" strike="noStrike">
                          <a:solidFill>
                            <a:srgbClr val="FFFFFF"/>
                          </a:solidFill>
                          <a:effectLst/>
                          <a:latin typeface="Calibri" panose="020F0502020204030204" pitchFamily="34" charset="0"/>
                        </a:rPr>
                        <a:t>Customer_type</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600" b="1" i="0" u="none" strike="noStrike">
                          <a:solidFill>
                            <a:srgbClr val="FFFFFF"/>
                          </a:solidFill>
                          <a:effectLst/>
                          <a:latin typeface="Calibri" panose="020F0502020204030204" pitchFamily="34" charset="0"/>
                        </a:rPr>
                        <a:t>Product_line</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600" b="1" i="0" u="none" strike="noStrike" dirty="0" err="1">
                          <a:solidFill>
                            <a:srgbClr val="FFFFFF"/>
                          </a:solidFill>
                          <a:effectLst/>
                          <a:latin typeface="Calibri" panose="020F0502020204030204" pitchFamily="34" charset="0"/>
                        </a:rPr>
                        <a:t>count_product</a:t>
                      </a:r>
                      <a:endParaRPr lang="en-IN" sz="1600" b="1" i="0" u="none" strike="noStrike" dirty="0">
                        <a:solidFill>
                          <a:srgbClr val="FFFFFF"/>
                        </a:solidFill>
                        <a:effectLst/>
                        <a:latin typeface="Calibri" panose="020F0502020204030204" pitchFamily="34" charset="0"/>
                      </a:endParaRP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3977336912"/>
                  </a:ext>
                </a:extLst>
              </a:tr>
              <a:tr h="545690">
                <a:tc>
                  <a:txBody>
                    <a:bodyPr/>
                    <a:lstStyle/>
                    <a:p>
                      <a:pPr algn="ctr" fontAlgn="b"/>
                      <a:r>
                        <a:rPr lang="en-IN" sz="1600" b="0" i="0" u="none" strike="noStrike">
                          <a:solidFill>
                            <a:srgbClr val="000000"/>
                          </a:solidFill>
                          <a:effectLst/>
                          <a:latin typeface="Calibri" panose="020F0502020204030204" pitchFamily="34" charset="0"/>
                        </a:rPr>
                        <a:t>Member</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Food and beverages</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94</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765042603"/>
                  </a:ext>
                </a:extLst>
              </a:tr>
              <a:tr h="545690">
                <a:tc>
                  <a:txBody>
                    <a:bodyPr/>
                    <a:lstStyle/>
                    <a:p>
                      <a:pPr algn="ctr" fontAlgn="b"/>
                      <a:r>
                        <a:rPr lang="en-IN" sz="1600" b="0" i="0" u="none" strike="noStrike">
                          <a:solidFill>
                            <a:srgbClr val="000000"/>
                          </a:solidFill>
                          <a:effectLst/>
                          <a:latin typeface="Calibri" panose="020F0502020204030204" pitchFamily="34" charset="0"/>
                        </a:rPr>
                        <a:t>Normal</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Fashion accessories</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600" b="0" i="0" u="none" strike="noStrike">
                          <a:solidFill>
                            <a:srgbClr val="000000"/>
                          </a:solidFill>
                          <a:effectLst/>
                          <a:latin typeface="Calibri" panose="020F0502020204030204" pitchFamily="34" charset="0"/>
                        </a:rPr>
                        <a:t>92</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349851511"/>
                  </a:ext>
                </a:extLst>
              </a:tr>
              <a:tr h="545690">
                <a:tc>
                  <a:txBody>
                    <a:bodyPr/>
                    <a:lstStyle/>
                    <a:p>
                      <a:pPr algn="ctr" fontAlgn="b"/>
                      <a:r>
                        <a:rPr lang="en-IN" sz="1600" b="0" i="0" u="none" strike="noStrike">
                          <a:solidFill>
                            <a:srgbClr val="000000"/>
                          </a:solidFill>
                          <a:effectLst/>
                          <a:latin typeface="Calibri" panose="020F0502020204030204" pitchFamily="34" charset="0"/>
                        </a:rPr>
                        <a:t>Normal</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a:solidFill>
                            <a:srgbClr val="000000"/>
                          </a:solidFill>
                          <a:effectLst/>
                          <a:latin typeface="Calibri" panose="020F0502020204030204" pitchFamily="34" charset="0"/>
                        </a:rPr>
                        <a:t>Electronic accessories</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600" b="0" i="0" u="none" strike="noStrike" dirty="0">
                          <a:solidFill>
                            <a:srgbClr val="000000"/>
                          </a:solidFill>
                          <a:effectLst/>
                          <a:latin typeface="Calibri" panose="020F0502020204030204" pitchFamily="34" charset="0"/>
                        </a:rPr>
                        <a:t>92</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393126356"/>
                  </a:ext>
                </a:extLst>
              </a:tr>
            </a:tbl>
          </a:graphicData>
        </a:graphic>
      </p:graphicFrame>
      <p:graphicFrame>
        <p:nvGraphicFramePr>
          <p:cNvPr id="7" name="Chart 6">
            <a:extLst>
              <a:ext uri="{FF2B5EF4-FFF2-40B4-BE49-F238E27FC236}">
                <a16:creationId xmlns:a16="http://schemas.microsoft.com/office/drawing/2014/main" id="{BA65ACE5-B1DF-3EC5-57E4-BD88ED651657}"/>
              </a:ext>
            </a:extLst>
          </p:cNvPr>
          <p:cNvGraphicFramePr/>
          <p:nvPr>
            <p:extLst>
              <p:ext uri="{D42A27DB-BD31-4B8C-83A1-F6EECF244321}">
                <p14:modId xmlns:p14="http://schemas.microsoft.com/office/powerpoint/2010/main" val="2087124143"/>
              </p:ext>
            </p:extLst>
          </p:nvPr>
        </p:nvGraphicFramePr>
        <p:xfrm>
          <a:off x="5943601" y="1246240"/>
          <a:ext cx="5810864" cy="4073558"/>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1">
            <a:extLst>
              <a:ext uri="{FF2B5EF4-FFF2-40B4-BE49-F238E27FC236}">
                <a16:creationId xmlns:a16="http://schemas.microsoft.com/office/drawing/2014/main" id="{4176EDB2-9890-FDBC-D5BB-E62E785E9294}"/>
              </a:ext>
            </a:extLst>
          </p:cNvPr>
          <p:cNvSpPr>
            <a:spLocks noGrp="1"/>
          </p:cNvSpPr>
          <p:nvPr>
            <p:ph type="title"/>
          </p:nvPr>
        </p:nvSpPr>
        <p:spPr>
          <a:xfrm>
            <a:off x="838200" y="261682"/>
            <a:ext cx="10515600" cy="623222"/>
          </a:xfrm>
        </p:spPr>
        <p:txBody>
          <a:bodyPr/>
          <a:lstStyle/>
          <a:p>
            <a:pPr algn="ctr"/>
            <a:r>
              <a:rPr lang="en-IN" dirty="0"/>
              <a:t>VISUAL REPRESENTATION</a:t>
            </a:r>
          </a:p>
        </p:txBody>
      </p:sp>
    </p:spTree>
    <p:extLst>
      <p:ext uri="{BB962C8B-B14F-4D97-AF65-F5344CB8AC3E}">
        <p14:creationId xmlns:p14="http://schemas.microsoft.com/office/powerpoint/2010/main" val="1606247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50EDC-121E-A82D-243F-0C48F3D40B0E}"/>
              </a:ext>
            </a:extLst>
          </p:cNvPr>
          <p:cNvSpPr>
            <a:spLocks noGrp="1"/>
          </p:cNvSpPr>
          <p:nvPr>
            <p:ph type="title"/>
          </p:nvPr>
        </p:nvSpPr>
        <p:spPr>
          <a:xfrm>
            <a:off x="346880" y="210979"/>
            <a:ext cx="10515600" cy="888693"/>
          </a:xfrm>
        </p:spPr>
        <p:txBody>
          <a:bodyPr/>
          <a:lstStyle/>
          <a:p>
            <a:r>
              <a:rPr lang="en-US" dirty="0"/>
              <a:t>Task 8: Identifying Repeat Customers</a:t>
            </a:r>
            <a:endParaRPr lang="en-IN" dirty="0"/>
          </a:p>
        </p:txBody>
      </p:sp>
      <p:sp>
        <p:nvSpPr>
          <p:cNvPr id="3" name="Content Placeholder 2">
            <a:extLst>
              <a:ext uri="{FF2B5EF4-FFF2-40B4-BE49-F238E27FC236}">
                <a16:creationId xmlns:a16="http://schemas.microsoft.com/office/drawing/2014/main" id="{E3B90897-F540-E3FB-A880-186CA3BB6244}"/>
              </a:ext>
            </a:extLst>
          </p:cNvPr>
          <p:cNvSpPr>
            <a:spLocks noGrp="1"/>
          </p:cNvSpPr>
          <p:nvPr>
            <p:ph idx="1"/>
          </p:nvPr>
        </p:nvSpPr>
        <p:spPr>
          <a:xfrm>
            <a:off x="346880" y="1825624"/>
            <a:ext cx="10515600" cy="4561527"/>
          </a:xfrm>
        </p:spPr>
        <p:txBody>
          <a:bodyPr>
            <a:normAutofit/>
          </a:bodyPr>
          <a:lstStyle/>
          <a:p>
            <a:pPr marL="0" indent="0">
              <a:buNone/>
            </a:pPr>
            <a:r>
              <a:rPr lang="en-IN" dirty="0"/>
              <a:t>select distinct w1.customer_type, w1.city, count(distinct w1.customer_id) as </a:t>
            </a:r>
            <a:r>
              <a:rPr lang="en-IN" dirty="0" err="1"/>
              <a:t>Repeat_customer_count</a:t>
            </a:r>
            <a:endParaRPr lang="en-IN" dirty="0"/>
          </a:p>
          <a:p>
            <a:pPr marL="0" indent="0">
              <a:buNone/>
            </a:pPr>
            <a:r>
              <a:rPr lang="en-IN" dirty="0"/>
              <a:t>from </a:t>
            </a:r>
            <a:r>
              <a:rPr lang="en-IN" dirty="0" err="1"/>
              <a:t>walmartsales</a:t>
            </a:r>
            <a:r>
              <a:rPr lang="en-IN" dirty="0"/>
              <a:t> w1</a:t>
            </a:r>
          </a:p>
          <a:p>
            <a:pPr marL="0" indent="0">
              <a:buNone/>
            </a:pPr>
            <a:r>
              <a:rPr lang="en-IN" dirty="0"/>
              <a:t>join </a:t>
            </a:r>
            <a:r>
              <a:rPr lang="en-IN" dirty="0" err="1"/>
              <a:t>walmartsales</a:t>
            </a:r>
            <a:r>
              <a:rPr lang="en-IN" dirty="0"/>
              <a:t> w2 </a:t>
            </a:r>
          </a:p>
          <a:p>
            <a:pPr marL="0" indent="0">
              <a:buNone/>
            </a:pPr>
            <a:r>
              <a:rPr lang="en-US" dirty="0"/>
              <a:t>on w1.customer_id = w2.customer_id</a:t>
            </a:r>
          </a:p>
          <a:p>
            <a:pPr marL="0" indent="0">
              <a:buNone/>
            </a:pPr>
            <a:r>
              <a:rPr lang="en-IN" dirty="0"/>
              <a:t>and abs(</a:t>
            </a:r>
            <a:r>
              <a:rPr lang="en-IN" dirty="0" err="1"/>
              <a:t>datediff</a:t>
            </a:r>
            <a:r>
              <a:rPr lang="en-IN" dirty="0"/>
              <a:t>(</a:t>
            </a:r>
            <a:r>
              <a:rPr lang="en-IN" dirty="0" err="1"/>
              <a:t>str_to_date</a:t>
            </a:r>
            <a:r>
              <a:rPr lang="en-IN" dirty="0"/>
              <a:t>(w1.date, '%d-%m-%Y'), </a:t>
            </a:r>
            <a:r>
              <a:rPr lang="en-IN" dirty="0" err="1"/>
              <a:t>str_to_date</a:t>
            </a:r>
            <a:r>
              <a:rPr lang="en-IN" dirty="0"/>
              <a:t>(w2.date, '%d-%m-%Y'))) between 1 and 30</a:t>
            </a:r>
          </a:p>
          <a:p>
            <a:pPr marL="0" indent="0">
              <a:buNone/>
            </a:pPr>
            <a:r>
              <a:rPr lang="en-IN" dirty="0"/>
              <a:t>group by w1.customer_type, w1.city</a:t>
            </a:r>
          </a:p>
          <a:p>
            <a:pPr marL="0" indent="0">
              <a:buNone/>
            </a:pPr>
            <a:r>
              <a:rPr lang="en-IN" dirty="0"/>
              <a:t>order by w1.customer_type, w1.city;</a:t>
            </a:r>
          </a:p>
        </p:txBody>
      </p:sp>
      <p:sp>
        <p:nvSpPr>
          <p:cNvPr id="4" name="TextBox 3">
            <a:extLst>
              <a:ext uri="{FF2B5EF4-FFF2-40B4-BE49-F238E27FC236}">
                <a16:creationId xmlns:a16="http://schemas.microsoft.com/office/drawing/2014/main" id="{F91F0F1F-A4BC-7565-AF32-4F511AA25D8A}"/>
              </a:ext>
            </a:extLst>
          </p:cNvPr>
          <p:cNvSpPr txBox="1"/>
          <p:nvPr/>
        </p:nvSpPr>
        <p:spPr>
          <a:xfrm>
            <a:off x="5466735" y="1009643"/>
            <a:ext cx="3731342" cy="461665"/>
          </a:xfrm>
          <a:prstGeom prst="rect">
            <a:avLst/>
          </a:prstGeom>
          <a:noFill/>
        </p:spPr>
        <p:txBody>
          <a:bodyPr wrap="square" rtlCol="0">
            <a:spAutoFit/>
          </a:bodyPr>
          <a:lstStyle/>
          <a:p>
            <a:r>
              <a:rPr lang="en-IN" sz="2400" b="1" dirty="0">
                <a:solidFill>
                  <a:schemeClr val="accent1">
                    <a:lumMod val="50000"/>
                  </a:schemeClr>
                </a:solidFill>
              </a:rPr>
              <a:t>Query:-</a:t>
            </a:r>
          </a:p>
        </p:txBody>
      </p:sp>
    </p:spTree>
    <p:extLst>
      <p:ext uri="{BB962C8B-B14F-4D97-AF65-F5344CB8AC3E}">
        <p14:creationId xmlns:p14="http://schemas.microsoft.com/office/powerpoint/2010/main" val="3444359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BBB32E-DA74-5C05-BE7B-033AABFD1127}"/>
              </a:ext>
            </a:extLst>
          </p:cNvPr>
          <p:cNvSpPr>
            <a:spLocks noGrp="1"/>
          </p:cNvSpPr>
          <p:nvPr>
            <p:ph type="title"/>
          </p:nvPr>
        </p:nvSpPr>
        <p:spPr>
          <a:xfrm>
            <a:off x="838200" y="261682"/>
            <a:ext cx="10515600" cy="623222"/>
          </a:xfrm>
        </p:spPr>
        <p:txBody>
          <a:bodyPr/>
          <a:lstStyle/>
          <a:p>
            <a:pPr algn="ctr"/>
            <a:r>
              <a:rPr lang="en-IN" dirty="0"/>
              <a:t>VISUAL REPRESENTATION</a:t>
            </a:r>
          </a:p>
        </p:txBody>
      </p:sp>
      <p:graphicFrame>
        <p:nvGraphicFramePr>
          <p:cNvPr id="2" name="Table 1">
            <a:extLst>
              <a:ext uri="{FF2B5EF4-FFF2-40B4-BE49-F238E27FC236}">
                <a16:creationId xmlns:a16="http://schemas.microsoft.com/office/drawing/2014/main" id="{56FC278F-5F70-DF6B-8607-231A1223A2E4}"/>
              </a:ext>
            </a:extLst>
          </p:cNvPr>
          <p:cNvGraphicFramePr>
            <a:graphicFrameLocks noGrp="1"/>
          </p:cNvGraphicFramePr>
          <p:nvPr>
            <p:extLst>
              <p:ext uri="{D42A27DB-BD31-4B8C-83A1-F6EECF244321}">
                <p14:modId xmlns:p14="http://schemas.microsoft.com/office/powerpoint/2010/main" val="1716471104"/>
              </p:ext>
            </p:extLst>
          </p:nvPr>
        </p:nvGraphicFramePr>
        <p:xfrm>
          <a:off x="2074460" y="1178197"/>
          <a:ext cx="7806519" cy="3489339"/>
        </p:xfrm>
        <a:graphic>
          <a:graphicData uri="http://schemas.openxmlformats.org/drawingml/2006/table">
            <a:tbl>
              <a:tblPr/>
              <a:tblGrid>
                <a:gridCol w="2501730">
                  <a:extLst>
                    <a:ext uri="{9D8B030D-6E8A-4147-A177-3AD203B41FA5}">
                      <a16:colId xmlns:a16="http://schemas.microsoft.com/office/drawing/2014/main" val="2664982470"/>
                    </a:ext>
                  </a:extLst>
                </a:gridCol>
                <a:gridCol w="1541682">
                  <a:extLst>
                    <a:ext uri="{9D8B030D-6E8A-4147-A177-3AD203B41FA5}">
                      <a16:colId xmlns:a16="http://schemas.microsoft.com/office/drawing/2014/main" val="1267908075"/>
                    </a:ext>
                  </a:extLst>
                </a:gridCol>
                <a:gridCol w="3763107">
                  <a:extLst>
                    <a:ext uri="{9D8B030D-6E8A-4147-A177-3AD203B41FA5}">
                      <a16:colId xmlns:a16="http://schemas.microsoft.com/office/drawing/2014/main" val="1243283056"/>
                    </a:ext>
                  </a:extLst>
                </a:gridCol>
              </a:tblGrid>
              <a:tr h="498477">
                <a:tc>
                  <a:txBody>
                    <a:bodyPr/>
                    <a:lstStyle/>
                    <a:p>
                      <a:pPr algn="ctr" fontAlgn="b"/>
                      <a:r>
                        <a:rPr lang="en-IN" sz="1800" b="1" i="0" u="none" strike="noStrike">
                          <a:solidFill>
                            <a:srgbClr val="FFFFFF"/>
                          </a:solidFill>
                          <a:effectLst/>
                          <a:latin typeface="Calibri" panose="020F0502020204030204" pitchFamily="34" charset="0"/>
                        </a:rPr>
                        <a:t>Customer_type</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800" b="1" i="0" u="none" strike="noStrike">
                          <a:solidFill>
                            <a:srgbClr val="FFFFFF"/>
                          </a:solidFill>
                          <a:effectLst/>
                          <a:latin typeface="Calibri" panose="020F0502020204030204" pitchFamily="34" charset="0"/>
                        </a:rPr>
                        <a:t>City</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800" b="1" i="0" u="none" strike="noStrike">
                          <a:solidFill>
                            <a:srgbClr val="FFFFFF"/>
                          </a:solidFill>
                          <a:effectLst/>
                          <a:latin typeface="Calibri" panose="020F0502020204030204" pitchFamily="34" charset="0"/>
                        </a:rPr>
                        <a:t>Repeat_Customer_count</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4189292267"/>
                  </a:ext>
                </a:extLst>
              </a:tr>
              <a:tr h="498477">
                <a:tc>
                  <a:txBody>
                    <a:bodyPr/>
                    <a:lstStyle/>
                    <a:p>
                      <a:pPr algn="ctr" fontAlgn="b"/>
                      <a:r>
                        <a:rPr lang="en-IN" sz="1800" b="1" i="0" u="none" strike="noStrike">
                          <a:solidFill>
                            <a:srgbClr val="000000"/>
                          </a:solidFill>
                          <a:effectLst/>
                          <a:latin typeface="Calibri" panose="020F0502020204030204" pitchFamily="34" charset="0"/>
                        </a:rPr>
                        <a:t>Member</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1" i="0" u="none" strike="noStrike">
                          <a:solidFill>
                            <a:srgbClr val="000000"/>
                          </a:solidFill>
                          <a:effectLst/>
                          <a:latin typeface="Calibri" panose="020F0502020204030204" pitchFamily="34" charset="0"/>
                        </a:rPr>
                        <a:t>Mandalay</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1" i="0" u="none" strike="noStrike">
                          <a:solidFill>
                            <a:srgbClr val="000000"/>
                          </a:solidFill>
                          <a:effectLst/>
                          <a:latin typeface="Calibri" panose="020F0502020204030204" pitchFamily="34" charset="0"/>
                        </a:rPr>
                        <a:t>15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509104023"/>
                  </a:ext>
                </a:extLst>
              </a:tr>
              <a:tr h="498477">
                <a:tc>
                  <a:txBody>
                    <a:bodyPr/>
                    <a:lstStyle/>
                    <a:p>
                      <a:pPr algn="ctr" fontAlgn="b"/>
                      <a:r>
                        <a:rPr lang="en-IN" sz="1800" b="1" i="0" u="none" strike="noStrike">
                          <a:solidFill>
                            <a:srgbClr val="000000"/>
                          </a:solidFill>
                          <a:effectLst/>
                          <a:latin typeface="Calibri" panose="020F0502020204030204" pitchFamily="34" charset="0"/>
                        </a:rPr>
                        <a:t>Member</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1" i="0" u="none" strike="noStrike">
                          <a:solidFill>
                            <a:srgbClr val="000000"/>
                          </a:solidFill>
                          <a:effectLst/>
                          <a:latin typeface="Calibri" panose="020F0502020204030204" pitchFamily="34" charset="0"/>
                        </a:rPr>
                        <a:t>Naypyitaw</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1" i="0" u="none" strike="noStrike">
                          <a:solidFill>
                            <a:srgbClr val="000000"/>
                          </a:solidFill>
                          <a:effectLst/>
                          <a:latin typeface="Calibri" panose="020F0502020204030204" pitchFamily="34" charset="0"/>
                        </a:rPr>
                        <a:t>15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728407937"/>
                  </a:ext>
                </a:extLst>
              </a:tr>
              <a:tr h="498477">
                <a:tc>
                  <a:txBody>
                    <a:bodyPr/>
                    <a:lstStyle/>
                    <a:p>
                      <a:pPr algn="ctr" fontAlgn="b"/>
                      <a:r>
                        <a:rPr lang="en-IN" sz="1800" b="1" i="0" u="none" strike="noStrike">
                          <a:solidFill>
                            <a:srgbClr val="000000"/>
                          </a:solidFill>
                          <a:effectLst/>
                          <a:latin typeface="Calibri" panose="020F0502020204030204" pitchFamily="34" charset="0"/>
                        </a:rPr>
                        <a:t>Member</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1" i="0" u="none" strike="noStrike">
                          <a:solidFill>
                            <a:srgbClr val="000000"/>
                          </a:solidFill>
                          <a:effectLst/>
                          <a:latin typeface="Calibri" panose="020F0502020204030204" pitchFamily="34" charset="0"/>
                        </a:rPr>
                        <a:t>Yangon</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1" i="0" u="none" strike="noStrike">
                          <a:solidFill>
                            <a:srgbClr val="000000"/>
                          </a:solidFill>
                          <a:effectLst/>
                          <a:latin typeface="Calibri" panose="020F0502020204030204" pitchFamily="34" charset="0"/>
                        </a:rPr>
                        <a:t>15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082305729"/>
                  </a:ext>
                </a:extLst>
              </a:tr>
              <a:tr h="498477">
                <a:tc>
                  <a:txBody>
                    <a:bodyPr/>
                    <a:lstStyle/>
                    <a:p>
                      <a:pPr algn="ctr" fontAlgn="b"/>
                      <a:r>
                        <a:rPr lang="en-IN" sz="1800" b="1" i="0" u="none" strike="noStrike">
                          <a:solidFill>
                            <a:srgbClr val="000000"/>
                          </a:solidFill>
                          <a:effectLst/>
                          <a:latin typeface="Calibri" panose="020F0502020204030204" pitchFamily="34" charset="0"/>
                        </a:rPr>
                        <a:t>Normal</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1" i="0" u="none" strike="noStrike">
                          <a:solidFill>
                            <a:srgbClr val="000000"/>
                          </a:solidFill>
                          <a:effectLst/>
                          <a:latin typeface="Calibri" panose="020F0502020204030204" pitchFamily="34" charset="0"/>
                        </a:rPr>
                        <a:t>Mandalay</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1" i="0" u="none" strike="noStrike">
                          <a:solidFill>
                            <a:srgbClr val="000000"/>
                          </a:solidFill>
                          <a:effectLst/>
                          <a:latin typeface="Calibri" panose="020F0502020204030204" pitchFamily="34" charset="0"/>
                        </a:rPr>
                        <a:t>15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783391791"/>
                  </a:ext>
                </a:extLst>
              </a:tr>
              <a:tr h="498477">
                <a:tc>
                  <a:txBody>
                    <a:bodyPr/>
                    <a:lstStyle/>
                    <a:p>
                      <a:pPr algn="ctr" fontAlgn="b"/>
                      <a:r>
                        <a:rPr lang="en-IN" sz="1800" b="1" i="0" u="none" strike="noStrike">
                          <a:solidFill>
                            <a:srgbClr val="000000"/>
                          </a:solidFill>
                          <a:effectLst/>
                          <a:latin typeface="Calibri" panose="020F0502020204030204" pitchFamily="34" charset="0"/>
                        </a:rPr>
                        <a:t>Normal</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1" i="0" u="none" strike="noStrike">
                          <a:solidFill>
                            <a:srgbClr val="000000"/>
                          </a:solidFill>
                          <a:effectLst/>
                          <a:latin typeface="Calibri" panose="020F0502020204030204" pitchFamily="34" charset="0"/>
                        </a:rPr>
                        <a:t>Naypyitaw</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1" i="0" u="none" strike="noStrike">
                          <a:solidFill>
                            <a:srgbClr val="000000"/>
                          </a:solidFill>
                          <a:effectLst/>
                          <a:latin typeface="Calibri" panose="020F0502020204030204" pitchFamily="34" charset="0"/>
                        </a:rPr>
                        <a:t>15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809720175"/>
                  </a:ext>
                </a:extLst>
              </a:tr>
              <a:tr h="498477">
                <a:tc>
                  <a:txBody>
                    <a:bodyPr/>
                    <a:lstStyle/>
                    <a:p>
                      <a:pPr algn="ctr" fontAlgn="b"/>
                      <a:r>
                        <a:rPr lang="en-IN" sz="1800" b="1" i="0" u="none" strike="noStrike">
                          <a:solidFill>
                            <a:srgbClr val="000000"/>
                          </a:solidFill>
                          <a:effectLst/>
                          <a:latin typeface="Calibri" panose="020F0502020204030204" pitchFamily="34" charset="0"/>
                        </a:rPr>
                        <a:t>Normal</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1" i="0" u="none" strike="noStrike">
                          <a:solidFill>
                            <a:srgbClr val="000000"/>
                          </a:solidFill>
                          <a:effectLst/>
                          <a:latin typeface="Calibri" panose="020F0502020204030204" pitchFamily="34" charset="0"/>
                        </a:rPr>
                        <a:t>Yangon</a:t>
                      </a:r>
                    </a:p>
                  </a:txBody>
                  <a:tcPr marL="9525" marR="9525" marT="952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1" i="0" u="none" strike="noStrike" dirty="0">
                          <a:solidFill>
                            <a:srgbClr val="000000"/>
                          </a:solidFill>
                          <a:effectLst/>
                          <a:latin typeface="Calibri" panose="020F0502020204030204" pitchFamily="34" charset="0"/>
                        </a:rPr>
                        <a:t>15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42288789"/>
                  </a:ext>
                </a:extLst>
              </a:tr>
            </a:tbl>
          </a:graphicData>
        </a:graphic>
      </p:graphicFrame>
    </p:spTree>
    <p:extLst>
      <p:ext uri="{BB962C8B-B14F-4D97-AF65-F5344CB8AC3E}">
        <p14:creationId xmlns:p14="http://schemas.microsoft.com/office/powerpoint/2010/main" val="2514902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BE475-FF38-004E-2717-B654847125D0}"/>
              </a:ext>
            </a:extLst>
          </p:cNvPr>
          <p:cNvSpPr>
            <a:spLocks noGrp="1"/>
          </p:cNvSpPr>
          <p:nvPr>
            <p:ph type="title"/>
          </p:nvPr>
        </p:nvSpPr>
        <p:spPr>
          <a:xfrm>
            <a:off x="346880" y="0"/>
            <a:ext cx="10515600" cy="1065673"/>
          </a:xfrm>
        </p:spPr>
        <p:txBody>
          <a:bodyPr/>
          <a:lstStyle/>
          <a:p>
            <a:r>
              <a:rPr lang="en-US" dirty="0"/>
              <a:t>Task 9: Finding Top 5 Customers by Sales Volume</a:t>
            </a:r>
            <a:endParaRPr lang="en-IN" dirty="0"/>
          </a:p>
        </p:txBody>
      </p:sp>
      <p:sp>
        <p:nvSpPr>
          <p:cNvPr id="3" name="Content Placeholder 2">
            <a:extLst>
              <a:ext uri="{FF2B5EF4-FFF2-40B4-BE49-F238E27FC236}">
                <a16:creationId xmlns:a16="http://schemas.microsoft.com/office/drawing/2014/main" id="{1DA34717-D8E8-3A65-2210-ABB2799C7C53}"/>
              </a:ext>
            </a:extLst>
          </p:cNvPr>
          <p:cNvSpPr>
            <a:spLocks noGrp="1"/>
          </p:cNvSpPr>
          <p:nvPr>
            <p:ph idx="1"/>
          </p:nvPr>
        </p:nvSpPr>
        <p:spPr/>
        <p:txBody>
          <a:bodyPr/>
          <a:lstStyle/>
          <a:p>
            <a:pPr marL="0" indent="0">
              <a:buNone/>
            </a:pPr>
            <a:r>
              <a:rPr lang="en-US" dirty="0"/>
              <a:t>select </a:t>
            </a:r>
            <a:r>
              <a:rPr lang="en-US" dirty="0" err="1"/>
              <a:t>Customer_ID</a:t>
            </a:r>
            <a:r>
              <a:rPr lang="en-US" dirty="0"/>
              <a:t>, sum(Total) as </a:t>
            </a:r>
            <a:r>
              <a:rPr lang="en-US" dirty="0" err="1"/>
              <a:t>total_sales</a:t>
            </a:r>
            <a:endParaRPr lang="en-US" dirty="0"/>
          </a:p>
          <a:p>
            <a:pPr marL="0" indent="0">
              <a:buNone/>
            </a:pPr>
            <a:r>
              <a:rPr lang="en-US" dirty="0"/>
              <a:t>from </a:t>
            </a:r>
            <a:r>
              <a:rPr lang="en-US" dirty="0" err="1"/>
              <a:t>walmartsales</a:t>
            </a:r>
            <a:endParaRPr lang="en-US" dirty="0"/>
          </a:p>
          <a:p>
            <a:pPr marL="0" indent="0">
              <a:buNone/>
            </a:pPr>
            <a:r>
              <a:rPr lang="en-US" dirty="0"/>
              <a:t>group by </a:t>
            </a:r>
            <a:r>
              <a:rPr lang="en-US" dirty="0" err="1"/>
              <a:t>Customer_ID</a:t>
            </a:r>
            <a:endParaRPr lang="en-US" dirty="0"/>
          </a:p>
          <a:p>
            <a:pPr marL="0" indent="0">
              <a:buNone/>
            </a:pPr>
            <a:r>
              <a:rPr lang="en-US" dirty="0"/>
              <a:t>order by </a:t>
            </a:r>
            <a:r>
              <a:rPr lang="en-US" dirty="0" err="1"/>
              <a:t>total_sales</a:t>
            </a:r>
            <a:r>
              <a:rPr lang="en-US" dirty="0"/>
              <a:t> desc</a:t>
            </a:r>
          </a:p>
          <a:p>
            <a:pPr marL="0" indent="0">
              <a:buNone/>
            </a:pPr>
            <a:r>
              <a:rPr lang="en-US" dirty="0"/>
              <a:t>limit 5;</a:t>
            </a:r>
            <a:endParaRPr lang="en-IN" dirty="0"/>
          </a:p>
        </p:txBody>
      </p:sp>
      <p:sp>
        <p:nvSpPr>
          <p:cNvPr id="4" name="TextBox 3">
            <a:extLst>
              <a:ext uri="{FF2B5EF4-FFF2-40B4-BE49-F238E27FC236}">
                <a16:creationId xmlns:a16="http://schemas.microsoft.com/office/drawing/2014/main" id="{1229B0D5-0B97-E833-A49F-82521509B70B}"/>
              </a:ext>
            </a:extLst>
          </p:cNvPr>
          <p:cNvSpPr txBox="1"/>
          <p:nvPr/>
        </p:nvSpPr>
        <p:spPr>
          <a:xfrm>
            <a:off x="5466735" y="1009643"/>
            <a:ext cx="3731342" cy="461665"/>
          </a:xfrm>
          <a:prstGeom prst="rect">
            <a:avLst/>
          </a:prstGeom>
          <a:noFill/>
        </p:spPr>
        <p:txBody>
          <a:bodyPr wrap="square" rtlCol="0">
            <a:spAutoFit/>
          </a:bodyPr>
          <a:lstStyle/>
          <a:p>
            <a:r>
              <a:rPr lang="en-IN" sz="2400" b="1" dirty="0">
                <a:solidFill>
                  <a:schemeClr val="accent1">
                    <a:lumMod val="50000"/>
                  </a:schemeClr>
                </a:solidFill>
              </a:rPr>
              <a:t>Query:-</a:t>
            </a:r>
          </a:p>
        </p:txBody>
      </p:sp>
    </p:spTree>
    <p:extLst>
      <p:ext uri="{BB962C8B-B14F-4D97-AF65-F5344CB8AC3E}">
        <p14:creationId xmlns:p14="http://schemas.microsoft.com/office/powerpoint/2010/main" val="318137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1AD7498-4045-83BA-3253-CE8A5E4C01ED}"/>
              </a:ext>
            </a:extLst>
          </p:cNvPr>
          <p:cNvGraphicFramePr>
            <a:graphicFrameLocks noGrp="1"/>
          </p:cNvGraphicFramePr>
          <p:nvPr>
            <p:extLst>
              <p:ext uri="{D42A27DB-BD31-4B8C-83A1-F6EECF244321}">
                <p14:modId xmlns:p14="http://schemas.microsoft.com/office/powerpoint/2010/main" val="2693463805"/>
              </p:ext>
            </p:extLst>
          </p:nvPr>
        </p:nvGraphicFramePr>
        <p:xfrm>
          <a:off x="214145" y="1319971"/>
          <a:ext cx="5630402" cy="2154060"/>
        </p:xfrm>
        <a:graphic>
          <a:graphicData uri="http://schemas.openxmlformats.org/drawingml/2006/table">
            <a:tbl>
              <a:tblPr/>
              <a:tblGrid>
                <a:gridCol w="2994481">
                  <a:extLst>
                    <a:ext uri="{9D8B030D-6E8A-4147-A177-3AD203B41FA5}">
                      <a16:colId xmlns:a16="http://schemas.microsoft.com/office/drawing/2014/main" val="1543323820"/>
                    </a:ext>
                  </a:extLst>
                </a:gridCol>
                <a:gridCol w="2635921">
                  <a:extLst>
                    <a:ext uri="{9D8B030D-6E8A-4147-A177-3AD203B41FA5}">
                      <a16:colId xmlns:a16="http://schemas.microsoft.com/office/drawing/2014/main" val="3850916567"/>
                    </a:ext>
                  </a:extLst>
                </a:gridCol>
              </a:tblGrid>
              <a:tr h="359010">
                <a:tc>
                  <a:txBody>
                    <a:bodyPr/>
                    <a:lstStyle/>
                    <a:p>
                      <a:pPr algn="ctr" fontAlgn="b"/>
                      <a:r>
                        <a:rPr lang="en-IN" sz="1800" b="1" i="0" u="none" strike="noStrike">
                          <a:solidFill>
                            <a:srgbClr val="FFFFFF"/>
                          </a:solidFill>
                          <a:effectLst/>
                          <a:latin typeface="Calibri" panose="020F0502020204030204" pitchFamily="34" charset="0"/>
                        </a:rPr>
                        <a:t>Customer_ID</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800" b="1" i="0" u="none" strike="noStrike" dirty="0" err="1">
                          <a:solidFill>
                            <a:srgbClr val="FFFFFF"/>
                          </a:solidFill>
                          <a:effectLst/>
                          <a:latin typeface="Calibri" panose="020F0502020204030204" pitchFamily="34" charset="0"/>
                        </a:rPr>
                        <a:t>Total_sales</a:t>
                      </a:r>
                      <a:endParaRPr lang="en-IN" sz="1800" b="1" i="0" u="none" strike="noStrike" dirty="0">
                        <a:solidFill>
                          <a:srgbClr val="FFFFFF"/>
                        </a:solidFill>
                        <a:effectLst/>
                        <a:latin typeface="Calibri" panose="020F0502020204030204" pitchFamily="34" charset="0"/>
                      </a:endParaRP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1161116867"/>
                  </a:ext>
                </a:extLst>
              </a:tr>
              <a:tr h="359010">
                <a:tc>
                  <a:txBody>
                    <a:bodyPr/>
                    <a:lstStyle/>
                    <a:p>
                      <a:pPr algn="ctr" fontAlgn="b"/>
                      <a:r>
                        <a:rPr lang="en-IN" sz="1800" b="0" i="0" u="none" strike="noStrike" dirty="0">
                          <a:solidFill>
                            <a:srgbClr val="000000"/>
                          </a:solidFill>
                          <a:effectLst/>
                          <a:latin typeface="Calibri" panose="020F0502020204030204" pitchFamily="34" charset="0"/>
                        </a:rPr>
                        <a:t>8</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dirty="0">
                          <a:solidFill>
                            <a:srgbClr val="000000"/>
                          </a:solidFill>
                          <a:effectLst/>
                          <a:latin typeface="Calibri" panose="020F0502020204030204" pitchFamily="34" charset="0"/>
                        </a:rPr>
                        <a:t>26634.342</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417657045"/>
                  </a:ext>
                </a:extLst>
              </a:tr>
              <a:tr h="359010">
                <a:tc>
                  <a:txBody>
                    <a:bodyPr/>
                    <a:lstStyle/>
                    <a:p>
                      <a:pPr algn="ctr" fontAlgn="b"/>
                      <a:r>
                        <a:rPr lang="en-IN" sz="1800" b="0" i="0" u="none" strike="noStrike">
                          <a:solidFill>
                            <a:srgbClr val="000000"/>
                          </a:solidFill>
                          <a:effectLst/>
                          <a:latin typeface="Calibri" panose="020F0502020204030204" pitchFamily="34" charset="0"/>
                        </a:rPr>
                        <a:t>3</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23402.2635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713512195"/>
                  </a:ext>
                </a:extLst>
              </a:tr>
              <a:tr h="359010">
                <a:tc>
                  <a:txBody>
                    <a:bodyPr/>
                    <a:lstStyle/>
                    <a:p>
                      <a:pPr algn="ctr" fontAlgn="b"/>
                      <a:r>
                        <a:rPr lang="en-IN" sz="18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23392.278</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203889157"/>
                  </a:ext>
                </a:extLst>
              </a:tr>
              <a:tr h="359010">
                <a:tc>
                  <a:txBody>
                    <a:bodyPr/>
                    <a:lstStyle/>
                    <a:p>
                      <a:pPr algn="ctr" fontAlgn="b"/>
                      <a:r>
                        <a:rPr lang="en-IN" sz="1800" b="0" i="0" u="none" strike="noStrike">
                          <a:solidFill>
                            <a:srgbClr val="000000"/>
                          </a:solidFill>
                          <a:effectLst/>
                          <a:latin typeface="Calibri" panose="020F0502020204030204" pitchFamily="34" charset="0"/>
                        </a:rPr>
                        <a:t>15</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22674.456</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823588874"/>
                  </a:ext>
                </a:extLst>
              </a:tr>
              <a:tr h="359010">
                <a:tc>
                  <a:txBody>
                    <a:bodyPr/>
                    <a:lstStyle/>
                    <a:p>
                      <a:pPr algn="ctr" fontAlgn="b"/>
                      <a:r>
                        <a:rPr lang="en-IN" sz="18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dirty="0">
                          <a:solidFill>
                            <a:srgbClr val="000000"/>
                          </a:solidFill>
                          <a:effectLst/>
                          <a:latin typeface="Calibri" panose="020F0502020204030204" pitchFamily="34" charset="0"/>
                        </a:rPr>
                        <a:t>22634.5455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394484692"/>
                  </a:ext>
                </a:extLst>
              </a:tr>
            </a:tbl>
          </a:graphicData>
        </a:graphic>
      </p:graphicFrame>
      <p:graphicFrame>
        <p:nvGraphicFramePr>
          <p:cNvPr id="7" name="Chart 6">
            <a:extLst>
              <a:ext uri="{FF2B5EF4-FFF2-40B4-BE49-F238E27FC236}">
                <a16:creationId xmlns:a16="http://schemas.microsoft.com/office/drawing/2014/main" id="{46EA3DF3-E626-6E56-5FE9-60DA196D1434}"/>
              </a:ext>
            </a:extLst>
          </p:cNvPr>
          <p:cNvGraphicFramePr/>
          <p:nvPr>
            <p:extLst>
              <p:ext uri="{D42A27DB-BD31-4B8C-83A1-F6EECF244321}">
                <p14:modId xmlns:p14="http://schemas.microsoft.com/office/powerpoint/2010/main" val="1629613336"/>
              </p:ext>
            </p:extLst>
          </p:nvPr>
        </p:nvGraphicFramePr>
        <p:xfrm>
          <a:off x="6096000" y="1319971"/>
          <a:ext cx="5749120" cy="4335240"/>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1">
            <a:extLst>
              <a:ext uri="{FF2B5EF4-FFF2-40B4-BE49-F238E27FC236}">
                <a16:creationId xmlns:a16="http://schemas.microsoft.com/office/drawing/2014/main" id="{10B00C77-0345-3DB1-8911-EEC94EB6906F}"/>
              </a:ext>
            </a:extLst>
          </p:cNvPr>
          <p:cNvSpPr>
            <a:spLocks noGrp="1"/>
          </p:cNvSpPr>
          <p:nvPr>
            <p:ph type="title"/>
          </p:nvPr>
        </p:nvSpPr>
        <p:spPr>
          <a:xfrm>
            <a:off x="838200" y="261682"/>
            <a:ext cx="10515600" cy="623222"/>
          </a:xfrm>
        </p:spPr>
        <p:txBody>
          <a:bodyPr/>
          <a:lstStyle/>
          <a:p>
            <a:pPr algn="ctr"/>
            <a:r>
              <a:rPr lang="en-IN" dirty="0"/>
              <a:t>VISUAL REPRESENTATION</a:t>
            </a:r>
          </a:p>
        </p:txBody>
      </p:sp>
    </p:spTree>
    <p:extLst>
      <p:ext uri="{BB962C8B-B14F-4D97-AF65-F5344CB8AC3E}">
        <p14:creationId xmlns:p14="http://schemas.microsoft.com/office/powerpoint/2010/main" val="3210160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8C7AA-0082-95BE-DEBD-5EBF541055DA}"/>
              </a:ext>
            </a:extLst>
          </p:cNvPr>
          <p:cNvSpPr>
            <a:spLocks noGrp="1"/>
          </p:cNvSpPr>
          <p:nvPr>
            <p:ph type="title"/>
          </p:nvPr>
        </p:nvSpPr>
        <p:spPr>
          <a:xfrm>
            <a:off x="346880" y="135699"/>
            <a:ext cx="10515600" cy="873944"/>
          </a:xfrm>
        </p:spPr>
        <p:txBody>
          <a:bodyPr/>
          <a:lstStyle/>
          <a:p>
            <a:r>
              <a:rPr lang="en-US" dirty="0"/>
              <a:t>Task 10: Analyzing Sales Trends by Day of the Week</a:t>
            </a:r>
            <a:endParaRPr lang="en-IN" dirty="0"/>
          </a:p>
        </p:txBody>
      </p:sp>
      <p:sp>
        <p:nvSpPr>
          <p:cNvPr id="3" name="Content Placeholder 2">
            <a:extLst>
              <a:ext uri="{FF2B5EF4-FFF2-40B4-BE49-F238E27FC236}">
                <a16:creationId xmlns:a16="http://schemas.microsoft.com/office/drawing/2014/main" id="{D478D92D-2CDE-1844-BC7E-CB5AD92BA502}"/>
              </a:ext>
            </a:extLst>
          </p:cNvPr>
          <p:cNvSpPr>
            <a:spLocks noGrp="1"/>
          </p:cNvSpPr>
          <p:nvPr>
            <p:ph idx="1"/>
          </p:nvPr>
        </p:nvSpPr>
        <p:spPr/>
        <p:txBody>
          <a:bodyPr/>
          <a:lstStyle/>
          <a:p>
            <a:pPr marL="0" indent="0">
              <a:buNone/>
            </a:pPr>
            <a:r>
              <a:rPr lang="en-US" dirty="0"/>
              <a:t>select </a:t>
            </a:r>
          </a:p>
          <a:p>
            <a:pPr marL="0" indent="0">
              <a:buNone/>
            </a:pPr>
            <a:r>
              <a:rPr lang="en-US" dirty="0"/>
              <a:t>     </a:t>
            </a:r>
            <a:r>
              <a:rPr lang="en-US" dirty="0" err="1"/>
              <a:t>dayname</a:t>
            </a:r>
            <a:r>
              <a:rPr lang="en-US" dirty="0"/>
              <a:t>(</a:t>
            </a:r>
            <a:r>
              <a:rPr lang="en-US" dirty="0" err="1"/>
              <a:t>str_to_date</a:t>
            </a:r>
            <a:r>
              <a:rPr lang="en-US" dirty="0"/>
              <a:t>(Date, '%d-%m-%Y')) as </a:t>
            </a:r>
            <a:r>
              <a:rPr lang="en-US" dirty="0" err="1"/>
              <a:t>daywise</a:t>
            </a:r>
            <a:r>
              <a:rPr lang="en-US" dirty="0"/>
              <a:t>,</a:t>
            </a:r>
          </a:p>
          <a:p>
            <a:pPr marL="0" indent="0">
              <a:buNone/>
            </a:pPr>
            <a:r>
              <a:rPr lang="en-US" dirty="0"/>
              <a:t>     sum(Total) as </a:t>
            </a:r>
            <a:r>
              <a:rPr lang="en-US" dirty="0" err="1"/>
              <a:t>total_sales</a:t>
            </a:r>
            <a:endParaRPr lang="en-US" dirty="0"/>
          </a:p>
          <a:p>
            <a:pPr marL="0" indent="0">
              <a:buNone/>
            </a:pPr>
            <a:r>
              <a:rPr lang="en-US" dirty="0"/>
              <a:t>from </a:t>
            </a:r>
            <a:r>
              <a:rPr lang="en-US" dirty="0" err="1"/>
              <a:t>walmartsales</a:t>
            </a:r>
            <a:endParaRPr lang="en-US" dirty="0"/>
          </a:p>
          <a:p>
            <a:pPr marL="0" indent="0">
              <a:buNone/>
            </a:pPr>
            <a:r>
              <a:rPr lang="en-US" dirty="0"/>
              <a:t>group by </a:t>
            </a:r>
            <a:r>
              <a:rPr lang="en-US" dirty="0" err="1"/>
              <a:t>daywise</a:t>
            </a:r>
            <a:endParaRPr lang="en-US" dirty="0"/>
          </a:p>
          <a:p>
            <a:pPr marL="0" indent="0">
              <a:buNone/>
            </a:pPr>
            <a:r>
              <a:rPr lang="en-US" dirty="0"/>
              <a:t>order by </a:t>
            </a:r>
            <a:r>
              <a:rPr lang="en-US" dirty="0" err="1"/>
              <a:t>total_sales</a:t>
            </a:r>
            <a:r>
              <a:rPr lang="en-US" dirty="0"/>
              <a:t> desc;</a:t>
            </a:r>
            <a:endParaRPr lang="en-IN" dirty="0"/>
          </a:p>
        </p:txBody>
      </p:sp>
      <p:sp>
        <p:nvSpPr>
          <p:cNvPr id="4" name="TextBox 3">
            <a:extLst>
              <a:ext uri="{FF2B5EF4-FFF2-40B4-BE49-F238E27FC236}">
                <a16:creationId xmlns:a16="http://schemas.microsoft.com/office/drawing/2014/main" id="{398281CB-43E9-3678-208A-7467AC1121F1}"/>
              </a:ext>
            </a:extLst>
          </p:cNvPr>
          <p:cNvSpPr txBox="1"/>
          <p:nvPr/>
        </p:nvSpPr>
        <p:spPr>
          <a:xfrm>
            <a:off x="5466735" y="1009643"/>
            <a:ext cx="3731342" cy="461665"/>
          </a:xfrm>
          <a:prstGeom prst="rect">
            <a:avLst/>
          </a:prstGeom>
          <a:noFill/>
        </p:spPr>
        <p:txBody>
          <a:bodyPr wrap="square" rtlCol="0">
            <a:spAutoFit/>
          </a:bodyPr>
          <a:lstStyle/>
          <a:p>
            <a:r>
              <a:rPr lang="en-IN" sz="2400" b="1" dirty="0">
                <a:solidFill>
                  <a:schemeClr val="accent1">
                    <a:lumMod val="50000"/>
                  </a:schemeClr>
                </a:solidFill>
              </a:rPr>
              <a:t>Query:-</a:t>
            </a:r>
          </a:p>
        </p:txBody>
      </p:sp>
    </p:spTree>
    <p:extLst>
      <p:ext uri="{BB962C8B-B14F-4D97-AF65-F5344CB8AC3E}">
        <p14:creationId xmlns:p14="http://schemas.microsoft.com/office/powerpoint/2010/main" val="2320385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099EA03-4760-E6BA-D6E8-20688F02BAC7}"/>
              </a:ext>
            </a:extLst>
          </p:cNvPr>
          <p:cNvGraphicFramePr>
            <a:graphicFrameLocks noGrp="1"/>
          </p:cNvGraphicFramePr>
          <p:nvPr>
            <p:extLst>
              <p:ext uri="{D42A27DB-BD31-4B8C-83A1-F6EECF244321}">
                <p14:modId xmlns:p14="http://schemas.microsoft.com/office/powerpoint/2010/main" val="1060058793"/>
              </p:ext>
            </p:extLst>
          </p:nvPr>
        </p:nvGraphicFramePr>
        <p:xfrm>
          <a:off x="132736" y="1194620"/>
          <a:ext cx="5244485" cy="2669024"/>
        </p:xfrm>
        <a:graphic>
          <a:graphicData uri="http://schemas.openxmlformats.org/drawingml/2006/table">
            <a:tbl>
              <a:tblPr/>
              <a:tblGrid>
                <a:gridCol w="2568124">
                  <a:extLst>
                    <a:ext uri="{9D8B030D-6E8A-4147-A177-3AD203B41FA5}">
                      <a16:colId xmlns:a16="http://schemas.microsoft.com/office/drawing/2014/main" val="4173743205"/>
                    </a:ext>
                  </a:extLst>
                </a:gridCol>
                <a:gridCol w="2676361">
                  <a:extLst>
                    <a:ext uri="{9D8B030D-6E8A-4147-A177-3AD203B41FA5}">
                      <a16:colId xmlns:a16="http://schemas.microsoft.com/office/drawing/2014/main" val="3185657866"/>
                    </a:ext>
                  </a:extLst>
                </a:gridCol>
              </a:tblGrid>
              <a:tr h="333628">
                <a:tc>
                  <a:txBody>
                    <a:bodyPr/>
                    <a:lstStyle/>
                    <a:p>
                      <a:pPr algn="ctr" fontAlgn="b"/>
                      <a:r>
                        <a:rPr lang="en-IN" sz="1800" b="1" i="0" u="none" strike="noStrike" dirty="0" err="1">
                          <a:solidFill>
                            <a:srgbClr val="FFFFFF"/>
                          </a:solidFill>
                          <a:effectLst/>
                          <a:latin typeface="Calibri" panose="020F0502020204030204" pitchFamily="34" charset="0"/>
                        </a:rPr>
                        <a:t>Day_name</a:t>
                      </a:r>
                      <a:endParaRPr lang="en-IN" sz="1800" b="1" i="0" u="none" strike="noStrike" dirty="0">
                        <a:solidFill>
                          <a:srgbClr val="FFFFFF"/>
                        </a:solidFill>
                        <a:effectLst/>
                        <a:latin typeface="Calibri" panose="020F0502020204030204" pitchFamily="34" charset="0"/>
                      </a:endParaRP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r>
                        <a:rPr lang="en-IN" sz="1800" b="1" i="0" u="none" strike="noStrike" dirty="0" err="1">
                          <a:solidFill>
                            <a:srgbClr val="FFFFFF"/>
                          </a:solidFill>
                          <a:effectLst/>
                          <a:latin typeface="Calibri" panose="020F0502020204030204" pitchFamily="34" charset="0"/>
                        </a:rPr>
                        <a:t>Total_sales</a:t>
                      </a:r>
                      <a:endParaRPr lang="en-IN" sz="1800" b="1" i="0" u="none" strike="noStrike" dirty="0">
                        <a:solidFill>
                          <a:srgbClr val="FFFFFF"/>
                        </a:solidFill>
                        <a:effectLst/>
                        <a:latin typeface="Calibri" panose="020F0502020204030204" pitchFamily="34" charset="0"/>
                      </a:endParaRP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3688607813"/>
                  </a:ext>
                </a:extLst>
              </a:tr>
              <a:tr h="333628">
                <a:tc>
                  <a:txBody>
                    <a:bodyPr/>
                    <a:lstStyle/>
                    <a:p>
                      <a:pPr algn="ctr" fontAlgn="b"/>
                      <a:r>
                        <a:rPr lang="en-IN" sz="1800" b="0" i="0" u="none" strike="noStrike">
                          <a:solidFill>
                            <a:srgbClr val="000000"/>
                          </a:solidFill>
                          <a:effectLst/>
                          <a:latin typeface="Calibri" panose="020F0502020204030204" pitchFamily="34" charset="0"/>
                        </a:rPr>
                        <a:t>Saturday</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56120.8095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461556203"/>
                  </a:ext>
                </a:extLst>
              </a:tr>
              <a:tr h="333628">
                <a:tc>
                  <a:txBody>
                    <a:bodyPr/>
                    <a:lstStyle/>
                    <a:p>
                      <a:pPr algn="ctr" fontAlgn="b"/>
                      <a:r>
                        <a:rPr lang="en-IN" sz="1800" b="0" i="0" u="none" strike="noStrike">
                          <a:solidFill>
                            <a:srgbClr val="000000"/>
                          </a:solidFill>
                          <a:effectLst/>
                          <a:latin typeface="Calibri" panose="020F0502020204030204" pitchFamily="34" charset="0"/>
                        </a:rPr>
                        <a:t>Tuesday</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51482.2455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510302752"/>
                  </a:ext>
                </a:extLst>
              </a:tr>
              <a:tr h="333628">
                <a:tc>
                  <a:txBody>
                    <a:bodyPr/>
                    <a:lstStyle/>
                    <a:p>
                      <a:pPr algn="ctr" fontAlgn="b"/>
                      <a:r>
                        <a:rPr lang="en-IN" sz="1800" b="0" i="0" u="none" strike="noStrike">
                          <a:solidFill>
                            <a:srgbClr val="000000"/>
                          </a:solidFill>
                          <a:effectLst/>
                          <a:latin typeface="Calibri" panose="020F0502020204030204" pitchFamily="34" charset="0"/>
                        </a:rPr>
                        <a:t>Thursday</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45349.248</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701945009"/>
                  </a:ext>
                </a:extLst>
              </a:tr>
              <a:tr h="333628">
                <a:tc>
                  <a:txBody>
                    <a:bodyPr/>
                    <a:lstStyle/>
                    <a:p>
                      <a:pPr algn="ctr" fontAlgn="b"/>
                      <a:r>
                        <a:rPr lang="en-IN" sz="1800" b="0" i="0" u="none" strike="noStrike">
                          <a:solidFill>
                            <a:srgbClr val="000000"/>
                          </a:solidFill>
                          <a:effectLst/>
                          <a:latin typeface="Calibri" panose="020F0502020204030204" pitchFamily="34" charset="0"/>
                        </a:rPr>
                        <a:t>Sunday</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44457.8925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765419423"/>
                  </a:ext>
                </a:extLst>
              </a:tr>
              <a:tr h="333628">
                <a:tc>
                  <a:txBody>
                    <a:bodyPr/>
                    <a:lstStyle/>
                    <a:p>
                      <a:pPr algn="ctr" fontAlgn="b"/>
                      <a:r>
                        <a:rPr lang="en-IN" sz="1800" b="0" i="0" u="none" strike="noStrike">
                          <a:solidFill>
                            <a:srgbClr val="000000"/>
                          </a:solidFill>
                          <a:effectLst/>
                          <a:latin typeface="Calibri" panose="020F0502020204030204" pitchFamily="34" charset="0"/>
                        </a:rPr>
                        <a:t>Friday</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a:solidFill>
                            <a:srgbClr val="000000"/>
                          </a:solidFill>
                          <a:effectLst/>
                          <a:latin typeface="Calibri" panose="020F0502020204030204" pitchFamily="34" charset="0"/>
                        </a:rPr>
                        <a:t>43926.3405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065981097"/>
                  </a:ext>
                </a:extLst>
              </a:tr>
              <a:tr h="333628">
                <a:tc>
                  <a:txBody>
                    <a:bodyPr/>
                    <a:lstStyle/>
                    <a:p>
                      <a:pPr algn="ctr" fontAlgn="b"/>
                      <a:r>
                        <a:rPr lang="en-IN" sz="1800" b="0" i="0" u="none" strike="noStrike">
                          <a:solidFill>
                            <a:srgbClr val="000000"/>
                          </a:solidFill>
                          <a:effectLst/>
                          <a:latin typeface="Calibri" panose="020F0502020204030204" pitchFamily="34" charset="0"/>
                        </a:rPr>
                        <a:t>Wednesday</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800" b="0" i="0" u="none" strike="noStrike">
                          <a:solidFill>
                            <a:srgbClr val="000000"/>
                          </a:solidFill>
                          <a:effectLst/>
                          <a:latin typeface="Calibri" panose="020F0502020204030204" pitchFamily="34" charset="0"/>
                        </a:rPr>
                        <a:t>43731.135</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524803476"/>
                  </a:ext>
                </a:extLst>
              </a:tr>
              <a:tr h="333628">
                <a:tc>
                  <a:txBody>
                    <a:bodyPr/>
                    <a:lstStyle/>
                    <a:p>
                      <a:pPr algn="ctr" fontAlgn="b"/>
                      <a:r>
                        <a:rPr lang="en-IN" sz="1800" b="0" i="0" u="none" strike="noStrike">
                          <a:solidFill>
                            <a:srgbClr val="000000"/>
                          </a:solidFill>
                          <a:effectLst/>
                          <a:latin typeface="Calibri" panose="020F0502020204030204" pitchFamily="34" charset="0"/>
                        </a:rPr>
                        <a:t>Monday</a:t>
                      </a:r>
                    </a:p>
                  </a:txBody>
                  <a:tcPr marL="9525" marR="9525" marT="952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800" b="0" i="0" u="none" strike="noStrike" dirty="0">
                          <a:solidFill>
                            <a:srgbClr val="000000"/>
                          </a:solidFill>
                          <a:effectLst/>
                          <a:latin typeface="Calibri" panose="020F0502020204030204" pitchFamily="34" charset="0"/>
                        </a:rPr>
                        <a:t>37899.078</a:t>
                      </a:r>
                    </a:p>
                  </a:txBody>
                  <a:tcPr marL="9525" marR="9525" marT="952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018790978"/>
                  </a:ext>
                </a:extLst>
              </a:tr>
            </a:tbl>
          </a:graphicData>
        </a:graphic>
      </p:graphicFrame>
      <p:graphicFrame>
        <p:nvGraphicFramePr>
          <p:cNvPr id="10" name="Chart 9">
            <a:extLst>
              <a:ext uri="{FF2B5EF4-FFF2-40B4-BE49-F238E27FC236}">
                <a16:creationId xmlns:a16="http://schemas.microsoft.com/office/drawing/2014/main" id="{7AD2B4CE-31C9-0795-0F6B-D7C091A273E3}"/>
              </a:ext>
            </a:extLst>
          </p:cNvPr>
          <p:cNvGraphicFramePr/>
          <p:nvPr>
            <p:extLst>
              <p:ext uri="{D42A27DB-BD31-4B8C-83A1-F6EECF244321}">
                <p14:modId xmlns:p14="http://schemas.microsoft.com/office/powerpoint/2010/main" val="2919931649"/>
              </p:ext>
            </p:extLst>
          </p:nvPr>
        </p:nvGraphicFramePr>
        <p:xfrm>
          <a:off x="5561168" y="1194620"/>
          <a:ext cx="6499122" cy="4763727"/>
        </p:xfrm>
        <a:graphic>
          <a:graphicData uri="http://schemas.openxmlformats.org/drawingml/2006/chart">
            <c:chart xmlns:c="http://schemas.openxmlformats.org/drawingml/2006/chart" xmlns:r="http://schemas.openxmlformats.org/officeDocument/2006/relationships" r:id="rId2"/>
          </a:graphicData>
        </a:graphic>
      </p:graphicFrame>
      <p:sp>
        <p:nvSpPr>
          <p:cNvPr id="5" name="Title 1">
            <a:extLst>
              <a:ext uri="{FF2B5EF4-FFF2-40B4-BE49-F238E27FC236}">
                <a16:creationId xmlns:a16="http://schemas.microsoft.com/office/drawing/2014/main" id="{FFB83293-FCFD-6F5E-699C-7F83FC5A41EB}"/>
              </a:ext>
            </a:extLst>
          </p:cNvPr>
          <p:cNvSpPr>
            <a:spLocks noGrp="1"/>
          </p:cNvSpPr>
          <p:nvPr>
            <p:ph type="title"/>
          </p:nvPr>
        </p:nvSpPr>
        <p:spPr>
          <a:xfrm>
            <a:off x="838200" y="261682"/>
            <a:ext cx="10515600" cy="623222"/>
          </a:xfrm>
        </p:spPr>
        <p:txBody>
          <a:bodyPr/>
          <a:lstStyle/>
          <a:p>
            <a:pPr algn="ctr"/>
            <a:r>
              <a:rPr lang="en-IN" dirty="0"/>
              <a:t>VISUAL REPRESENTATION</a:t>
            </a:r>
          </a:p>
        </p:txBody>
      </p:sp>
    </p:spTree>
    <p:extLst>
      <p:ext uri="{BB962C8B-B14F-4D97-AF65-F5344CB8AC3E}">
        <p14:creationId xmlns:p14="http://schemas.microsoft.com/office/powerpoint/2010/main" val="720052027"/>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2523</Words>
  <Application>Microsoft Office PowerPoint</Application>
  <PresentationFormat>Widescreen</PresentationFormat>
  <Paragraphs>1396</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Candara</vt:lpstr>
      <vt:lpstr>Office Theme</vt:lpstr>
      <vt:lpstr>PowerPoint Presentation</vt:lpstr>
      <vt:lpstr>PowerPoint Presentation</vt:lpstr>
      <vt:lpstr>Task 1: Identifying the Top Branch by Sales Growth Rate </vt:lpstr>
      <vt:lpstr>VISUAL REPRESENTATION</vt:lpstr>
      <vt:lpstr>Task 2: Finding the Most Profitable Product Line for Each Branch</vt:lpstr>
      <vt:lpstr>VISUAL REPRESENTATION</vt:lpstr>
      <vt:lpstr>Task 3: Analyzing Customer Segmentation Based on Spending </vt:lpstr>
      <vt:lpstr>VISUAL REPRESENTATION</vt:lpstr>
      <vt:lpstr>Task 4: Detecting Anomalies in Sales Transactions</vt:lpstr>
      <vt:lpstr>PowerPoint Presentation</vt:lpstr>
      <vt:lpstr>Task 5: Most Popular Payment Method by City</vt:lpstr>
      <vt:lpstr>VISUAL REPRESENTATION</vt:lpstr>
      <vt:lpstr>Task 6: Monthly Sales Distribution by Gender</vt:lpstr>
      <vt:lpstr>VISUAL REPRESENTATION</vt:lpstr>
      <vt:lpstr>Task 7: Best Product Line by Customer Type</vt:lpstr>
      <vt:lpstr>VISUAL REPRESENTATION</vt:lpstr>
      <vt:lpstr>Task 8: Identifying Repeat Customers</vt:lpstr>
      <vt:lpstr>VISUAL REPRESENTATION</vt:lpstr>
      <vt:lpstr>Task 9: Finding Top 5 Customers by Sales Volume</vt:lpstr>
      <vt:lpstr>VISUAL REPRESENTATION</vt:lpstr>
      <vt:lpstr>Task 10: Analyzing Sales Trends by Day of the Week</vt:lpstr>
      <vt:lpstr>VISUAL REPRESENTATION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5</cp:revision>
  <dcterms:created xsi:type="dcterms:W3CDTF">2025-04-04T06:53:49Z</dcterms:created>
  <dcterms:modified xsi:type="dcterms:W3CDTF">2025-04-14T10:18:50Z</dcterms:modified>
</cp:coreProperties>
</file>